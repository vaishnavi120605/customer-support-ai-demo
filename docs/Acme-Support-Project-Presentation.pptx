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702314cbf54744" /><Relationship Type="http://schemas.openxmlformats.org/officeDocument/2006/relationships/extended-properties" Target="/docProps/app.xml" Id="R1fc2c1f8134e41f3" /><Relationship Type="http://schemas.openxmlformats.org/officeDocument/2006/relationships/officeDocument" Target="/ppt/presentation.xml" Id="R1956e142dfa24224" /></Relationships>
</file>

<file path=ppt/presentation.xml><?xml version="1.0" encoding="utf-8"?>
<p:presentation xmlns:p="http://schemas.openxmlformats.org/presentationml/2006/main">
  <p:sldMasterIdLst>
    <p:sldMasterId xmlns:r="http://schemas.openxmlformats.org/officeDocument/2006/relationships" id="2147483648" r:id="Rc012b52694784dc0"/>
  </p:sldMasterIdLst>
  <p:notesMasterIdLst>
    <p:notesMasterId xmlns:r="http://schemas.openxmlformats.org/officeDocument/2006/relationships" r:id="R307f62640ba74789"/>
  </p:notesMasterIdLst>
  <p:sldIdLst>
    <p:sldId xmlns:r="http://schemas.openxmlformats.org/officeDocument/2006/relationships" id="256" r:id="Rac2c16ccf943419a"/>
    <p:sldId xmlns:r="http://schemas.openxmlformats.org/officeDocument/2006/relationships" id="257" r:id="R4760b797988f4825"/>
    <p:sldId xmlns:r="http://schemas.openxmlformats.org/officeDocument/2006/relationships" id="258" r:id="Rf5406f54de1449a1"/>
    <p:sldId xmlns:r="http://schemas.openxmlformats.org/officeDocument/2006/relationships" id="259" r:id="Rb3405981ffcf4702"/>
    <p:sldId xmlns:r="http://schemas.openxmlformats.org/officeDocument/2006/relationships" id="260" r:id="R533f24b383cf48d2"/>
    <p:sldId xmlns:r="http://schemas.openxmlformats.org/officeDocument/2006/relationships" id="261" r:id="R2c026fcbccca4a15"/>
    <p:sldId xmlns:r="http://schemas.openxmlformats.org/officeDocument/2006/relationships" id="262" r:id="R016cc8e623a04e86"/>
    <p:sldId xmlns:r="http://schemas.openxmlformats.org/officeDocument/2006/relationships" id="263" r:id="Rfe6fa3567a0848ed"/>
    <p:sldId xmlns:r="http://schemas.openxmlformats.org/officeDocument/2006/relationships" id="264" r:id="R3c74e8cd238a4893"/>
    <p:sldId xmlns:r="http://schemas.openxmlformats.org/officeDocument/2006/relationships" id="265" r:id="R26b40d6b3ba3469b"/>
    <p:sldId xmlns:r="http://schemas.openxmlformats.org/officeDocument/2006/relationships" id="266" r:id="R0b6e0971f2864eff"/>
    <p:sldId xmlns:r="http://schemas.openxmlformats.org/officeDocument/2006/relationships" id="267" r:id="R247391df907644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372b7aca444e29" /><Relationship Type="http://schemas.openxmlformats.org/officeDocument/2006/relationships/slideMaster" Target="/ppt/slideMasters/slideMaster1.xml" Id="Rc012b52694784dc0" /><Relationship Type="http://schemas.openxmlformats.org/officeDocument/2006/relationships/notesMaster" Target="/ppt/notesMasters/notesMaster1.xml" Id="R307f62640ba74789" /><Relationship Type="http://schemas.openxmlformats.org/officeDocument/2006/relationships/presProps" Target="/ppt/presProps.xml" Id="R7ce4c543087f429a" /><Relationship Type="http://schemas.openxmlformats.org/officeDocument/2006/relationships/tableStyles" Target="/ppt/tableStyles.xml" Id="Rcfb138fa78e343dc" /><Relationship Type="http://schemas.openxmlformats.org/officeDocument/2006/relationships/slide" Target="/ppt/slides/slide1.xml" Id="Rac2c16ccf943419a" /><Relationship Type="http://schemas.openxmlformats.org/officeDocument/2006/relationships/slide" Target="/ppt/slides/slide2.xml" Id="R4760b797988f4825" /><Relationship Type="http://schemas.openxmlformats.org/officeDocument/2006/relationships/slide" Target="/ppt/slides/slide3.xml" Id="Rf5406f54de1449a1" /><Relationship Type="http://schemas.openxmlformats.org/officeDocument/2006/relationships/slide" Target="/ppt/slides/slide4.xml" Id="Rb3405981ffcf4702" /><Relationship Type="http://schemas.openxmlformats.org/officeDocument/2006/relationships/slide" Target="/ppt/slides/slide5.xml" Id="R533f24b383cf48d2" /><Relationship Type="http://schemas.openxmlformats.org/officeDocument/2006/relationships/slide" Target="/ppt/slides/slide6.xml" Id="R2c026fcbccca4a15" /><Relationship Type="http://schemas.openxmlformats.org/officeDocument/2006/relationships/slide" Target="/ppt/slides/slide7.xml" Id="R016cc8e623a04e86" /><Relationship Type="http://schemas.openxmlformats.org/officeDocument/2006/relationships/slide" Target="/ppt/slides/slide8.xml" Id="Rfe6fa3567a0848ed" /><Relationship Type="http://schemas.openxmlformats.org/officeDocument/2006/relationships/slide" Target="/ppt/slides/slide9.xml" Id="R3c74e8cd238a4893" /><Relationship Type="http://schemas.openxmlformats.org/officeDocument/2006/relationships/slide" Target="/ppt/slides/slide10.xml" Id="R26b40d6b3ba3469b" /><Relationship Type="http://schemas.openxmlformats.org/officeDocument/2006/relationships/slide" Target="/ppt/slides/slide11.xml" Id="R0b6e0971f2864eff" /><Relationship Type="http://schemas.openxmlformats.org/officeDocument/2006/relationships/slide" Target="/ppt/slides/slide12.xml" Id="R247391df907644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d1d5ddc77b4e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184a78d30f42dd" /><Relationship Type="http://schemas.openxmlformats.org/officeDocument/2006/relationships/notesMaster" Target="/ppt/notesMasters/notesMaster1.xml" Id="R4fca2068cc7f4b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f45353b40546f0" /><Relationship Type="http://schemas.openxmlformats.org/officeDocument/2006/relationships/notesMaster" Target="/ppt/notesMasters/notesMaster1.xml" Id="R36609d98d02d48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918a5e2e264482" /><Relationship Type="http://schemas.openxmlformats.org/officeDocument/2006/relationships/notesMaster" Target="/ppt/notesMasters/notesMaster1.xml" Id="Raf1bd5066bee46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8aa3aee17045cb" /><Relationship Type="http://schemas.openxmlformats.org/officeDocument/2006/relationships/notesMaster" Target="/ppt/notesMasters/notesMaster1.xml" Id="Re6abd8b73dbc48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a3c8e5604b4919" /><Relationship Type="http://schemas.openxmlformats.org/officeDocument/2006/relationships/notesMaster" Target="/ppt/notesMasters/notesMaster1.xml" Id="Rced12368501449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894e197fc44b20" /><Relationship Type="http://schemas.openxmlformats.org/officeDocument/2006/relationships/notesMaster" Target="/ppt/notesMasters/notesMaster1.xml" Id="R441e83b0eb4740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923dbd10334dc5" /><Relationship Type="http://schemas.openxmlformats.org/officeDocument/2006/relationships/notesMaster" Target="/ppt/notesMasters/notesMaster1.xml" Id="R84f1b516d3684a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f0540158b744b8" /><Relationship Type="http://schemas.openxmlformats.org/officeDocument/2006/relationships/notesMaster" Target="/ppt/notesMasters/notesMaster1.xml" Id="Rfd46bcd14faa49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48b51bd4074500" /><Relationship Type="http://schemas.openxmlformats.org/officeDocument/2006/relationships/notesMaster" Target="/ppt/notesMasters/notesMaster1.xml" Id="R03a883cfa57847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a3c0b1418c4bbb" /><Relationship Type="http://schemas.openxmlformats.org/officeDocument/2006/relationships/notesMaster" Target="/ppt/notesMasters/notesMaster1.xml" Id="Re78625c6426042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3f4a1048ae4187" /><Relationship Type="http://schemas.openxmlformats.org/officeDocument/2006/relationships/notesMaster" Target="/ppt/notesMasters/notesMaster1.xml" Id="Rcd3d8aec52a947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848d94043b455e" /><Relationship Type="http://schemas.openxmlformats.org/officeDocument/2006/relationships/notesMaster" Target="/ppt/notesMasters/notesMaster1.xml" Id="Rde87bd95190140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working customer-support prototype. The focus is order questions and a human handoff inside the same conversation. No production adoption or performance claims are implied.</a:t>
            </a:r>
          </a:p>
          <a:p xmlns:a="http://schemas.openxmlformats.org/drawingml/2006/main">
            <a:r>
              <a:t/>
            </a:r>
          </a:p>
          <a:p xmlns:a="http://schemas.openxmlformats.org/drawingml/2006/main">
            <a:r>
              <a:t>Project source: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problem the project addresses rather than claiming measured improvements. Routine order questions can use stored order data. Exceptions need a specialist. Customers should retain their conversation context during that transition.</a:t>
            </a:r>
          </a:p>
          <a:p xmlns:a="http://schemas.openxmlformats.org/drawingml/2006/main">
            <a:r>
              <a:t/>
            </a:r>
          </a:p>
          <a:p xmlns:a="http://schemas.openxmlformats.org/drawingml/2006/main">
            <a:r>
              <a:t>Project source: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has two Streamlit pages. Both use the same SQLite database. Foundry generates AI responses while the service layer supplies order context and manages the handoff. The support console does not need an Azure AI call to send human replies.</a:t>
            </a:r>
          </a:p>
          <a:p xmlns:a="http://schemas.openxmlformats.org/drawingml/2006/main">
            <a:r>
              <a:t/>
            </a:r>
          </a:p>
          <a:p xmlns:a="http://schemas.openxmlformats.org/drawingml/2006/main">
            <a:r>
              <a:t>Project source: repo/ui/app.py; repo/support/console.py; repo/services/support_service.py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layers top to bottom. The customer UI invokes the service layer, which retrieves SQLite data and supplies grounded context to the Foundry runtime. The support UI writes replies through SQLite. Both pages poll for updates. These are component roles, not separate deployed microservices.</a:t>
            </a:r>
          </a:p>
          <a:p xmlns:a="http://schemas.openxmlformats.org/drawingml/2006/main">
            <a:r>
              <a:t/>
            </a:r>
          </a:p>
          <a:p xmlns:a="http://schemas.openxmlformats.org/drawingml/2006/main">
            <a:r>
              <a:t>Project source: repo/ui/app.py; repo/services/support_service.py; repo/foundry/runtime.py; repo/support/console.py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wording on this slide is an illustrative demo conversation, not a transcript of a measured test. The interface aligns customer messages to the right and AI or human messages to the left. The application stores order context and message history for the conversation.</a:t>
            </a:r>
          </a:p>
          <a:p xmlns:a="http://schemas.openxmlformats.org/drawingml/2006/main">
            <a:r>
              <a:t/>
            </a:r>
          </a:p>
          <a:p xmlns:a="http://schemas.openxmlformats.org/drawingml/2006/main">
            <a:r>
              <a:t>Project source: repo/ui/app.py; repo/services/chat_style.py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explicitly asks for a human. The application creates or reuses a handoff ticket. Human mode keeps the AI silent for ordinary follow-up messages. The customer can switch back to AI. Resolving the conversation adds a closure message and disables further input.</a:t>
            </a:r>
          </a:p>
          <a:p xmlns:a="http://schemas.openxmlformats.org/drawingml/2006/main">
            <a:r>
              <a:t/>
            </a:r>
          </a:p>
          <a:p xmlns:a="http://schemas.openxmlformats.org/drawingml/2006/main">
            <a:r>
              <a:t>Project source: repo/ui/app.py; repo/services/support_service.py; repo/support/console.py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current-customer view selects the latest active ticket. It is a demo-focused inbox view, not a rule for deleting older tickets. Other filters keep history accessible. Sending a reply changes the ticket to waiting_customer and should preserve selection. Two-second polling updates both interfaces.</a:t>
            </a:r>
          </a:p>
          <a:p xmlns:a="http://schemas.openxmlformats.org/drawingml/2006/main">
            <a:r>
              <a:t/>
            </a:r>
          </a:p>
          <a:p xmlns:a="http://schemas.openxmlformats.org/drawingml/2006/main">
            <a:r>
              <a:t>Project source: repo/support/console.py; repo/ui/app.py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 lookup checks the order number and, when supplied, the email. Email is optional in this demo and this is not full customer authentication. Azure identity authenticates the app to Foundry, not the customer to their order. The support role is a demo role. Production would need stronger access control.</a:t>
            </a:r>
          </a:p>
          <a:p xmlns:a="http://schemas.openxmlformats.org/drawingml/2006/main">
            <a:r>
              <a:t/>
            </a:r>
          </a:p>
          <a:p xmlns:a="http://schemas.openxmlformats.org/drawingml/2006/main">
            <a:r>
              <a:t>Project source: repo/services/support_service.py; repo/foundry/runtime.py; repo/ui/app.py; repo/.gitignore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two browser tabs with both Streamlit processes running and a valid Azure login. CS-1001 is a seeded demo order. Ask where the order is, then ask for a human. In the console enter a specialist name, assign the ticket, and reply. After the customer follows up, send the next human reply. End by resolving and show the closure notice.</a:t>
            </a:r>
          </a:p>
          <a:p xmlns:a="http://schemas.openxmlformats.org/drawingml/2006/main">
            <a:r>
              <a:t/>
            </a:r>
          </a:p>
          <a:p xmlns:a="http://schemas.openxmlformats.org/drawingml/2006/main">
            <a:r>
              <a:t>Project source: repo/database/seed.py; repo/ui/app.py; repo/support/console.py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offline quality tests passed. These are contract checks for scenarios, instructions, and schema, not evidence of model accuracy. Streamlit AppTest checks exercised ticket selection after reply, rerun and refresh, and the current-ticket view. Previous project verification covered message ordering and resolution behavior. No benchmark of latency, cost, or concurrent-user performance is included.</a:t>
            </a:r>
          </a:p>
          <a:p xmlns:a="http://schemas.openxmlformats.org/drawingml/2006/main">
            <a:r>
              <a:t/>
            </a:r>
          </a:p>
          <a:p xmlns:a="http://schemas.openxmlformats.org/drawingml/2006/main">
            <a:r>
              <a:t>Project source: repo/quality/tests/test_offline_quality.py; project verification runs for commits 383bf3c and 61e71f7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future improvements, not implemented capabilities. The current app is a local prototype with seeded data and a demo support role. A production service needs customer authentication, agent authorization, concurrent-agent queue handling, stronger AI history grounding, and deployment/operational controls.</a:t>
            </a:r>
          </a:p>
          <a:p xmlns:a="http://schemas.openxmlformats.org/drawingml/2006/main">
            <a:r>
              <a:t/>
            </a:r>
          </a:p>
          <a:p xmlns:a="http://schemas.openxmlformats.org/drawingml/2006/main">
            <a:r>
              <a:t>Project source: repo/ui/app.py; repo/support/console.py; repo/foundry/runtime.py;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showing the live demonstration or inviting questions. The contribution is a working AI-to-human support loop with a shared transcript and explicit resolution. The repository is private and collaborators need access. Team member names can be added once supplied by the project owner.</a:t>
            </a:r>
          </a:p>
          <a:p xmlns:a="http://schemas.openxmlformats.org/drawingml/2006/main">
            <a:r>
              <a:t/>
            </a:r>
          </a:p>
          <a:p xmlns:a="http://schemas.openxmlformats.org/drawingml/2006/main">
            <a:r>
              <a:t>Project source: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40852f3eab4e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2c7885c1dd4905" /><Relationship Type="http://schemas.openxmlformats.org/officeDocument/2006/relationships/slideLayout" Target="/ppt/slideLayouts/slideLayout1.xml" Id="Re950710609a049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50710609a049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950899afe34f49" /><Relationship Type="http://schemas.openxmlformats.org/officeDocument/2006/relationships/notesSlide" Target="/ppt/notesSlides/notesSlide1.xml" Id="R5b4e40800d9c44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5069d500a04330" /><Relationship Type="http://schemas.openxmlformats.org/officeDocument/2006/relationships/notesSlide" Target="/ppt/notesSlides/notesSlide2.xml" Id="R26e94a1df1d247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5b0bbc1db240a6" /><Relationship Type="http://schemas.openxmlformats.org/officeDocument/2006/relationships/notesSlide" Target="/ppt/notesSlides/notesSlide3.xml" Id="Rfddb61a1fe2c4f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87f4b38e614c70" /><Relationship Type="http://schemas.openxmlformats.org/officeDocument/2006/relationships/notesSlide" Target="/ppt/notesSlides/notesSlide4.xml" Id="R4c4479bf37204b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4f6d0b6e8c4840" /><Relationship Type="http://schemas.openxmlformats.org/officeDocument/2006/relationships/notesSlide" Target="/ppt/notesSlides/notesSlide5.xml" Id="Rcafefb6c70d14b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1af6aa58c64010" /><Relationship Type="http://schemas.openxmlformats.org/officeDocument/2006/relationships/notesSlide" Target="/ppt/notesSlides/notesSlide6.xml" Id="R2b5ddc587a504e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212293ce474bd4" /><Relationship Type="http://schemas.openxmlformats.org/officeDocument/2006/relationships/notesSlide" Target="/ppt/notesSlides/notesSlide7.xml" Id="Rccc25717d73c46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c776a44ba44b22" /><Relationship Type="http://schemas.openxmlformats.org/officeDocument/2006/relationships/notesSlide" Target="/ppt/notesSlides/notesSlide8.xml" Id="R938ff9d9606a49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134c786d544bef" /><Relationship Type="http://schemas.openxmlformats.org/officeDocument/2006/relationships/notesSlide" Target="/ppt/notesSlides/notesSlide9.xml" Id="R71ebce8ea51c43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3ea8909e414d0e" /><Relationship Type="http://schemas.openxmlformats.org/officeDocument/2006/relationships/notesSlide" Target="/ppt/notesSlides/notesSlide10.xml" Id="Rfc1931be807843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5eb0d8bdd684bde" /><Relationship Type="http://schemas.openxmlformats.org/officeDocument/2006/relationships/notesSlide" Target="/ppt/notesSlides/notesSlide11.xml" Id="R1dcb527ec34e4f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6aa0484b2b4408" /><Relationship Type="http://schemas.openxmlformats.org/officeDocument/2006/relationships/notesSlide" Target="/ppt/notesSlides/notesSlide12.xml" Id="Rf78d4735ff794786" /></Relationships>
</file>

<file path=ppt/slides/slide1.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60566A-29A3-4FAF-9F57-B5CFC015B745}"/>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Acme Support</a:t>
            </a:r>
          </a:p>
        </p:txBody>
      </p:sp>
      <p:sp>
        <p:nvSpPr>
          <p:cNvPr id="2" name="">
            <a:extLst xmlns:a="http://schemas.openxmlformats.org/drawingml/2006/main">
              <a:ext uri="{FF2B5EF4-FFF2-40B4-BE49-F238E27FC236}">
                <a16:creationId xmlns:a16="http://schemas.microsoft.com/office/drawing/2014/main" id="{5CA6F960-CFF4-4FAC-8654-EA5D4D9EEBD1}"/>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63ACDFB-0E3E-48D7-B3A1-6DECD07DF0C0}"/>
              </a:ext>
            </a:extLst>
          </p:cNvPr>
          <p:cNvSpPr>
            <a:spLocks xmlns:a="http://schemas.openxmlformats.org/drawingml/2006/main" noGrp="1"/>
          </p:cNvSpPr>
          <p:nvPr/>
        </p:nvSpPr>
        <p:spPr>
          <a:xfrm xmlns:a="http://schemas.openxmlformats.org/drawingml/2006/main">
            <a:off x="685800" y="2190750"/>
            <a:ext cx="10096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AI customer support</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with human assistance</a:t>
            </a:r>
          </a:p>
        </p:txBody>
      </p:sp>
      <p:sp>
        <p:nvSpPr>
          <p:cNvPr id="4" name="">
            <a:extLst xmlns:a="http://schemas.openxmlformats.org/drawingml/2006/main">
              <a:ext uri="{FF2B5EF4-FFF2-40B4-BE49-F238E27FC236}">
                <a16:creationId xmlns:a16="http://schemas.microsoft.com/office/drawing/2014/main" id="{A480EC28-42D7-4A15-B079-D58A64CDE0DC}"/>
              </a:ext>
            </a:extLst>
          </p:cNvPr>
          <p:cNvSpPr>
            <a:spLocks xmlns:a="http://schemas.openxmlformats.org/drawingml/2006/main" noGrp="1"/>
          </p:cNvSpPr>
          <p:nvPr/>
        </p:nvSpPr>
        <p:spPr>
          <a:xfrm xmlns:a="http://schemas.openxmlformats.org/drawingml/2006/main">
            <a:off x="723900" y="44767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3C9FF"/>
                </a:solidFill>
                <a:latin typeface="Helvetica Neue"/>
                <a:ea typeface="Helvetica Neue"/>
                <a:cs typeface="Helvetica Neue"/>
              </a:defRPr>
            </a:pPr>
            <a:r>
              <a:rPr sz="2100" b="0">
                <a:solidFill>
                  <a:srgbClr val="83C9FF"/>
                </a:solidFill>
                <a:latin typeface="Helvetica Neue"/>
                <a:ea typeface="Helvetica Neue"/>
                <a:cs typeface="Helvetica Neue"/>
              </a:rPr>
              <a:t>Project presentation</a:t>
            </a:r>
          </a:p>
        </p:txBody>
      </p:sp>
      <p:sp>
        <p:nvSpPr>
          <p:cNvPr id="5" name="">
            <a:extLst xmlns:a="http://schemas.openxmlformats.org/drawingml/2006/main">
              <a:ext uri="{FF2B5EF4-FFF2-40B4-BE49-F238E27FC236}">
                <a16:creationId xmlns:a16="http://schemas.microsoft.com/office/drawing/2014/main" id="{803061D2-048F-4983-AEE0-C0D511B1C8B0}"/>
              </a:ext>
            </a:extLst>
          </p:cNvPr>
          <p:cNvSpPr>
            <a:spLocks xmlns:a="http://schemas.openxmlformats.org/drawingml/2006/main" noGrp="1"/>
          </p:cNvSpPr>
          <p:nvPr/>
        </p:nvSpPr>
        <p:spPr>
          <a:xfrm xmlns:a="http://schemas.openxmlformats.org/drawingml/2006/main">
            <a:off x="723900" y="55626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ED3"/>
                </a:solidFill>
                <a:latin typeface="Helvetica Neue"/>
                <a:ea typeface="Helvetica Neue"/>
                <a:cs typeface="Helvetica Neue"/>
              </a:defRPr>
            </a:pPr>
            <a:r>
              <a:rPr sz="1800" b="0">
                <a:solidFill>
                  <a:srgbClr val="AFBED3"/>
                </a:solidFill>
                <a:latin typeface="Helvetica Neue"/>
                <a:ea typeface="Helvetica Neue"/>
                <a:cs typeface="Helvetica Neue"/>
              </a:rPr>
              <a:t>Python   /   Streamlit   /   Azure AI Foundry   /   SQLite</a:t>
            </a:r>
          </a:p>
        </p:txBody>
      </p:sp>
    </p:spTree>
    <p:extLst>
      <p:ext uri="{BB962C8B-B14F-4D97-AF65-F5344CB8AC3E}">
        <p14:creationId xmlns:p14="http://schemas.microsoft.com/office/powerpoint/2010/main" val="2058073644"/>
      </p:ext>
    </p:extLst>
  </p:cSld>
</p:sld>
</file>

<file path=ppt/slides/slide2.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F3A706-4370-465D-AED9-6676B0C07F94}"/>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The support problem</a:t>
            </a:r>
          </a:p>
        </p:txBody>
      </p:sp>
      <p:sp>
        <p:nvSpPr>
          <p:cNvPr id="2" name="">
            <a:extLst xmlns:a="http://schemas.openxmlformats.org/drawingml/2006/main">
              <a:ext uri="{FF2B5EF4-FFF2-40B4-BE49-F238E27FC236}">
                <a16:creationId xmlns:a16="http://schemas.microsoft.com/office/drawing/2014/main" id="{0719D58E-2AB2-4F48-8999-5F4D6C7FF441}"/>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7AC40655-17C6-4038-B96C-CE3F7132445D}"/>
              </a:ext>
            </a:extLst>
          </p:cNvPr>
          <p:cNvSpPr>
            <a:spLocks xmlns:a="http://schemas.openxmlformats.org/drawingml/2006/main" noGrp="1"/>
          </p:cNvSpPr>
          <p:nvPr/>
        </p:nvSpPr>
        <p:spPr>
          <a:xfrm xmlns:a="http://schemas.openxmlformats.org/drawingml/2006/main">
            <a:off x="685800" y="1857375"/>
            <a:ext cx="9906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51D5"/>
                </a:solidFill>
                <a:latin typeface="Helvetica Neue"/>
                <a:ea typeface="Helvetica Neue"/>
                <a:cs typeface="Helvetica Neue"/>
              </a:defRPr>
            </a:pPr>
            <a:r>
              <a:rPr sz="3675" b="1">
                <a:solidFill>
                  <a:srgbClr val="0051D5"/>
                </a:solidFill>
                <a:latin typeface="Helvetica Neue"/>
                <a:ea typeface="Helvetica Neue"/>
                <a:cs typeface="Helvetica Neue"/>
              </a:rPr>
              <a:t>Customers need answers.</a:t>
            </a:r>
          </a:p>
          <a:p xmlns:a="http://schemas.openxmlformats.org/drawingml/2006/main">
            <a:pPr>
              <a:defRPr sz="3675" b="1">
                <a:solidFill>
                  <a:srgbClr val="0051D5"/>
                </a:solidFill>
                <a:latin typeface="Helvetica Neue"/>
                <a:ea typeface="Helvetica Neue"/>
                <a:cs typeface="Helvetica Neue"/>
              </a:defRPr>
            </a:pPr>
            <a:r>
              <a:rPr sz="3675" b="1">
                <a:solidFill>
                  <a:srgbClr val="0051D5"/>
                </a:solidFill>
                <a:latin typeface="Helvetica Neue"/>
                <a:ea typeface="Helvetica Neue"/>
                <a:cs typeface="Helvetica Neue"/>
              </a:rPr>
              <a:t>Some requests need a person.</a:t>
            </a:r>
          </a:p>
        </p:txBody>
      </p:sp>
      <p:sp>
        <p:nvSpPr>
          <p:cNvPr id="4" name="">
            <a:extLst xmlns:a="http://schemas.openxmlformats.org/drawingml/2006/main">
              <a:ext uri="{FF2B5EF4-FFF2-40B4-BE49-F238E27FC236}">
                <a16:creationId xmlns:a16="http://schemas.microsoft.com/office/drawing/2014/main" id="{D8840260-60D4-4F16-8491-18CE5B50BAE3}"/>
              </a:ext>
            </a:extLst>
          </p:cNvPr>
          <p:cNvSpPr>
            <a:spLocks xmlns:a="http://schemas.openxmlformats.org/drawingml/2006/main" noGrp="1"/>
          </p:cNvSpPr>
          <p:nvPr/>
        </p:nvSpPr>
        <p:spPr>
          <a:xfrm xmlns:a="http://schemas.openxmlformats.org/drawingml/2006/main">
            <a:off x="685800" y="3638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Routine questions</a:t>
            </a:r>
          </a:p>
        </p:txBody>
      </p:sp>
      <p:sp>
        <p:nvSpPr>
          <p:cNvPr id="5" name="">
            <a:extLst xmlns:a="http://schemas.openxmlformats.org/drawingml/2006/main">
              <a:ext uri="{FF2B5EF4-FFF2-40B4-BE49-F238E27FC236}">
                <a16:creationId xmlns:a16="http://schemas.microsoft.com/office/drawing/2014/main" id="{212A174E-7826-43C5-A198-4A091F360AC2}"/>
              </a:ext>
            </a:extLst>
          </p:cNvPr>
          <p:cNvSpPr>
            <a:spLocks xmlns:a="http://schemas.openxmlformats.org/drawingml/2006/main" noGrp="1"/>
          </p:cNvSpPr>
          <p:nvPr/>
        </p:nvSpPr>
        <p:spPr>
          <a:xfrm xmlns:a="http://schemas.openxmlformats.org/drawingml/2006/main">
            <a:off x="685800" y="4238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Order status, delivery dates, and store policies.</a:t>
            </a:r>
          </a:p>
        </p:txBody>
      </p:sp>
      <p:sp>
        <p:nvSpPr>
          <p:cNvPr id="6" name="">
            <a:extLst xmlns:a="http://schemas.openxmlformats.org/drawingml/2006/main">
              <a:ext uri="{FF2B5EF4-FFF2-40B4-BE49-F238E27FC236}">
                <a16:creationId xmlns:a16="http://schemas.microsoft.com/office/drawing/2014/main" id="{D608E4FB-80D6-42A5-8AC3-9CA54E554F84}"/>
              </a:ext>
            </a:extLst>
          </p:cNvPr>
          <p:cNvSpPr>
            <a:spLocks xmlns:a="http://schemas.openxmlformats.org/drawingml/2006/main" noGrp="1"/>
          </p:cNvSpPr>
          <p:nvPr/>
        </p:nvSpPr>
        <p:spPr>
          <a:xfrm xmlns:a="http://schemas.openxmlformats.org/drawingml/2006/main">
            <a:off x="6496050" y="3638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Requests that need judgment</a:t>
            </a:r>
          </a:p>
        </p:txBody>
      </p:sp>
      <p:sp>
        <p:nvSpPr>
          <p:cNvPr id="7" name="">
            <a:extLst xmlns:a="http://schemas.openxmlformats.org/drawingml/2006/main">
              <a:ext uri="{FF2B5EF4-FFF2-40B4-BE49-F238E27FC236}">
                <a16:creationId xmlns:a16="http://schemas.microsoft.com/office/drawing/2014/main" id="{5B796EA5-19E7-4F9B-8753-0487A98F9CDA}"/>
              </a:ext>
            </a:extLst>
          </p:cNvPr>
          <p:cNvSpPr>
            <a:spLocks xmlns:a="http://schemas.openxmlformats.org/drawingml/2006/main" noGrp="1"/>
          </p:cNvSpPr>
          <p:nvPr/>
        </p:nvSpPr>
        <p:spPr>
          <a:xfrm xmlns:a="http://schemas.openxmlformats.org/drawingml/2006/main">
            <a:off x="6496050" y="4238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Refund exceptions, disputes, and explicit requests for human help.</a:t>
            </a:r>
          </a:p>
        </p:txBody>
      </p:sp>
    </p:spTree>
    <p:extLst>
      <p:ext uri="{BB962C8B-B14F-4D97-AF65-F5344CB8AC3E}">
        <p14:creationId xmlns:p14="http://schemas.microsoft.com/office/powerpoint/2010/main" val="603296867"/>
      </p:ext>
    </p:extLst>
  </p:cSld>
</p:sld>
</file>

<file path=ppt/slides/slide3.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5300A9-EC15-4472-BE29-8C1A2FF930BB}"/>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The project at a glance</a:t>
            </a:r>
          </a:p>
        </p:txBody>
      </p:sp>
      <p:sp>
        <p:nvSpPr>
          <p:cNvPr id="2" name="">
            <a:extLst xmlns:a="http://schemas.openxmlformats.org/drawingml/2006/main">
              <a:ext uri="{FF2B5EF4-FFF2-40B4-BE49-F238E27FC236}">
                <a16:creationId xmlns:a16="http://schemas.microsoft.com/office/drawing/2014/main" id="{93026D2B-6DD9-404B-8FF2-51DE37884ACC}"/>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5F6455CD-DD12-432B-93D2-D901B7157DE4}"/>
              </a:ext>
            </a:extLst>
          </p:cNvPr>
          <p:cNvSpPr>
            <a:spLocks xmlns:a="http://schemas.openxmlformats.org/drawingml/2006/main" noGrp="1"/>
          </p:cNvSpPr>
          <p:nvPr/>
        </p:nvSpPr>
        <p:spPr>
          <a:xfrm xmlns:a="http://schemas.openxmlformats.org/drawingml/2006/main">
            <a:off x="685800" y="18573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Customer chat</a:t>
            </a:r>
          </a:p>
        </p:txBody>
      </p:sp>
      <p:sp>
        <p:nvSpPr>
          <p:cNvPr id="4" name="">
            <a:extLst xmlns:a="http://schemas.openxmlformats.org/drawingml/2006/main">
              <a:ext uri="{FF2B5EF4-FFF2-40B4-BE49-F238E27FC236}">
                <a16:creationId xmlns:a16="http://schemas.microsoft.com/office/drawing/2014/main" id="{177A5287-6C6C-42DA-B7F0-5305D1A24426}"/>
              </a:ext>
            </a:extLst>
          </p:cNvPr>
          <p:cNvSpPr>
            <a:spLocks xmlns:a="http://schemas.openxmlformats.org/drawingml/2006/main" noGrp="1"/>
          </p:cNvSpPr>
          <p:nvPr/>
        </p:nvSpPr>
        <p:spPr>
          <a:xfrm xmlns:a="http://schemas.openxmlformats.org/drawingml/2006/main">
            <a:off x="685800" y="245745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Customers enter order details, ask questions, and request a specialist.</a:t>
            </a:r>
          </a:p>
        </p:txBody>
      </p:sp>
      <p:sp>
        <p:nvSpPr>
          <p:cNvPr id="5" name="">
            <a:extLst xmlns:a="http://schemas.openxmlformats.org/drawingml/2006/main">
              <a:ext uri="{FF2B5EF4-FFF2-40B4-BE49-F238E27FC236}">
                <a16:creationId xmlns:a16="http://schemas.microsoft.com/office/drawing/2014/main" id="{DAB6A9A5-3CB7-4B25-B391-ED03BAA2CF1A}"/>
              </a:ext>
            </a:extLst>
          </p:cNvPr>
          <p:cNvSpPr>
            <a:spLocks xmlns:a="http://schemas.openxmlformats.org/drawingml/2006/main" noGrp="1"/>
          </p:cNvSpPr>
          <p:nvPr/>
        </p:nvSpPr>
        <p:spPr>
          <a:xfrm xmlns:a="http://schemas.openxmlformats.org/drawingml/2006/main">
            <a:off x="6496050" y="18573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Support console</a:t>
            </a:r>
          </a:p>
        </p:txBody>
      </p:sp>
      <p:sp>
        <p:nvSpPr>
          <p:cNvPr id="6" name="">
            <a:extLst xmlns:a="http://schemas.openxmlformats.org/drawingml/2006/main">
              <a:ext uri="{FF2B5EF4-FFF2-40B4-BE49-F238E27FC236}">
                <a16:creationId xmlns:a16="http://schemas.microsoft.com/office/drawing/2014/main" id="{8E090632-CCD4-473E-AE52-76B8E5E91DEC}"/>
              </a:ext>
            </a:extLst>
          </p:cNvPr>
          <p:cNvSpPr>
            <a:spLocks xmlns:a="http://schemas.openxmlformats.org/drawingml/2006/main" noGrp="1"/>
          </p:cNvSpPr>
          <p:nvPr/>
        </p:nvSpPr>
        <p:spPr>
          <a:xfrm xmlns:a="http://schemas.openxmlformats.org/drawingml/2006/main">
            <a:off x="6496050" y="245745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Specialists view the transcript, send replies, and close tickets.</a:t>
            </a:r>
          </a:p>
        </p:txBody>
      </p:sp>
      <p:sp>
        <p:nvSpPr>
          <p:cNvPr id="7" name="">
            <a:extLst xmlns:a="http://schemas.openxmlformats.org/drawingml/2006/main">
              <a:ext uri="{FF2B5EF4-FFF2-40B4-BE49-F238E27FC236}">
                <a16:creationId xmlns:a16="http://schemas.microsoft.com/office/drawing/2014/main" id="{EA6D3586-EF91-4024-B662-8167A10D7A49}"/>
              </a:ext>
            </a:extLst>
          </p:cNvPr>
          <p:cNvSpPr>
            <a:spLocks xmlns:a="http://schemas.openxmlformats.org/drawingml/2006/main" noGrp="1"/>
          </p:cNvSpPr>
          <p:nvPr/>
        </p:nvSpPr>
        <p:spPr>
          <a:xfrm xmlns:a="http://schemas.openxmlformats.org/drawingml/2006/main">
            <a:off x="685800" y="44005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51D5"/>
                </a:solidFill>
                <a:latin typeface="Helvetica Neue"/>
                <a:ea typeface="Helvetica Neue"/>
                <a:cs typeface="Helvetica Neue"/>
              </a:defRPr>
            </a:pPr>
            <a:r>
              <a:rPr sz="3300" b="1">
                <a:solidFill>
                  <a:srgbClr val="0051D5"/>
                </a:solidFill>
                <a:latin typeface="Helvetica Neue"/>
                <a:ea typeface="Helvetica Neue"/>
                <a:cs typeface="Helvetica Neue"/>
              </a:rPr>
              <a:t>One saved conversation</a:t>
            </a:r>
          </a:p>
        </p:txBody>
      </p:sp>
      <p:sp>
        <p:nvSpPr>
          <p:cNvPr id="8" name="">
            <a:extLst xmlns:a="http://schemas.openxmlformats.org/drawingml/2006/main">
              <a:ext uri="{FF2B5EF4-FFF2-40B4-BE49-F238E27FC236}">
                <a16:creationId xmlns:a16="http://schemas.microsoft.com/office/drawing/2014/main" id="{4CB12E60-3D4D-49F2-8C6C-3318F857406B}"/>
              </a:ext>
            </a:extLst>
          </p:cNvPr>
          <p:cNvSpPr>
            <a:spLocks xmlns:a="http://schemas.openxmlformats.org/drawingml/2006/main" noGrp="1"/>
          </p:cNvSpPr>
          <p:nvPr/>
        </p:nvSpPr>
        <p:spPr>
          <a:xfrm xmlns:a="http://schemas.openxmlformats.org/drawingml/2006/main">
            <a:off x="685800" y="5162550"/>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F"/>
                </a:solidFill>
                <a:latin typeface="Helvetica Neue"/>
                <a:ea typeface="Helvetica Neue"/>
                <a:cs typeface="Helvetica Neue"/>
              </a:defRPr>
            </a:pPr>
            <a:r>
              <a:rPr sz="2250" b="0">
                <a:solidFill>
                  <a:srgbClr val="14263F"/>
                </a:solidFill>
                <a:latin typeface="Helvetica Neue"/>
                <a:ea typeface="Helvetica Neue"/>
                <a:cs typeface="Helvetica Neue"/>
              </a:rPr>
              <a:t>Customer, AI, and human messages share a chronological history.</a:t>
            </a:r>
          </a:p>
        </p:txBody>
      </p:sp>
    </p:spTree>
    <p:extLst>
      <p:ext uri="{BB962C8B-B14F-4D97-AF65-F5344CB8AC3E}">
        <p14:creationId xmlns:p14="http://schemas.microsoft.com/office/powerpoint/2010/main" val="528904077"/>
      </p:ext>
    </p:extLst>
  </p:cSld>
</p:sld>
</file>

<file path=ppt/slides/slide4.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783FD0-A36A-4964-B248-1D2A1D89AB5C}"/>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Application architecture</a:t>
            </a:r>
          </a:p>
        </p:txBody>
      </p:sp>
      <p:sp>
        <p:nvSpPr>
          <p:cNvPr id="2" name="">
            <a:extLst xmlns:a="http://schemas.openxmlformats.org/drawingml/2006/main">
              <a:ext uri="{FF2B5EF4-FFF2-40B4-BE49-F238E27FC236}">
                <a16:creationId xmlns:a16="http://schemas.microsoft.com/office/drawing/2014/main" id="{30DCA4E9-BE73-4B4D-901F-00606D7CE092}"/>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744583D0-A111-4DF7-AB2B-C520712EABCB}"/>
              </a:ext>
            </a:extLst>
          </p:cNvPr>
          <p:cNvSpPr>
            <a:spLocks xmlns:a="http://schemas.openxmlformats.org/drawingml/2006/main" noGrp="1"/>
          </p:cNvSpPr>
          <p:nvPr/>
        </p:nvSpPr>
        <p:spPr>
          <a:xfrm xmlns:a="http://schemas.openxmlformats.org/drawingml/2006/main">
            <a:off x="685800" y="190500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Interface</a:t>
            </a:r>
          </a:p>
        </p:txBody>
      </p:sp>
      <p:sp>
        <p:nvSpPr>
          <p:cNvPr id="4" name="">
            <a:extLst xmlns:a="http://schemas.openxmlformats.org/drawingml/2006/main">
              <a:ext uri="{FF2B5EF4-FFF2-40B4-BE49-F238E27FC236}">
                <a16:creationId xmlns:a16="http://schemas.microsoft.com/office/drawing/2014/main" id="{BBD0F126-EC56-4A7D-91CF-B34A6DD1A82C}"/>
              </a:ext>
            </a:extLst>
          </p:cNvPr>
          <p:cNvSpPr>
            <a:spLocks xmlns:a="http://schemas.openxmlformats.org/drawingml/2006/main" noGrp="1"/>
          </p:cNvSpPr>
          <p:nvPr/>
        </p:nvSpPr>
        <p:spPr>
          <a:xfrm xmlns:a="http://schemas.openxmlformats.org/drawingml/2006/main">
            <a:off x="3429000" y="1905000"/>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Streamlit customer chat and support console</a:t>
            </a:r>
          </a:p>
        </p:txBody>
      </p:sp>
      <p:sp>
        <p:nvSpPr>
          <p:cNvPr id="5" name="">
            <a:extLst xmlns:a="http://schemas.openxmlformats.org/drawingml/2006/main">
              <a:ext uri="{FF2B5EF4-FFF2-40B4-BE49-F238E27FC236}">
                <a16:creationId xmlns:a16="http://schemas.microsoft.com/office/drawing/2014/main" id="{B2FE7E56-03BC-4DAA-ACA7-1F9A5868404B}"/>
              </a:ext>
            </a:extLst>
          </p:cNvPr>
          <p:cNvSpPr>
            <a:spLocks xmlns:a="http://schemas.openxmlformats.org/drawingml/2006/main" noGrp="1"/>
          </p:cNvSpPr>
          <p:nvPr/>
        </p:nvSpPr>
        <p:spPr>
          <a:xfrm xmlns:a="http://schemas.openxmlformats.org/drawingml/2006/main">
            <a:off x="685800" y="288607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Application</a:t>
            </a:r>
          </a:p>
        </p:txBody>
      </p:sp>
      <p:sp>
        <p:nvSpPr>
          <p:cNvPr id="6" name="">
            <a:extLst xmlns:a="http://schemas.openxmlformats.org/drawingml/2006/main">
              <a:ext uri="{FF2B5EF4-FFF2-40B4-BE49-F238E27FC236}">
                <a16:creationId xmlns:a16="http://schemas.microsoft.com/office/drawing/2014/main" id="{F2EF0C38-1CC0-4F86-BDF2-69B48812E4D2}"/>
              </a:ext>
            </a:extLst>
          </p:cNvPr>
          <p:cNvSpPr>
            <a:spLocks xmlns:a="http://schemas.openxmlformats.org/drawingml/2006/main" noGrp="1"/>
          </p:cNvSpPr>
          <p:nvPr/>
        </p:nvSpPr>
        <p:spPr>
          <a:xfrm xmlns:a="http://schemas.openxmlformats.org/drawingml/2006/main">
            <a:off x="3429000" y="288607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Python order lookup and conversation routing</a:t>
            </a:r>
          </a:p>
        </p:txBody>
      </p:sp>
      <p:sp>
        <p:nvSpPr>
          <p:cNvPr id="7" name="">
            <a:extLst xmlns:a="http://schemas.openxmlformats.org/drawingml/2006/main">
              <a:ext uri="{FF2B5EF4-FFF2-40B4-BE49-F238E27FC236}">
                <a16:creationId xmlns:a16="http://schemas.microsoft.com/office/drawing/2014/main" id="{A4BBDB9E-DDCB-4D1B-92EA-3AC804D2D8EB}"/>
              </a:ext>
            </a:extLst>
          </p:cNvPr>
          <p:cNvSpPr>
            <a:spLocks xmlns:a="http://schemas.openxmlformats.org/drawingml/2006/main" noGrp="1"/>
          </p:cNvSpPr>
          <p:nvPr/>
        </p:nvSpPr>
        <p:spPr>
          <a:xfrm xmlns:a="http://schemas.openxmlformats.org/drawingml/2006/main">
            <a:off x="685800" y="386715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AI service</a:t>
            </a:r>
          </a:p>
        </p:txBody>
      </p:sp>
      <p:sp>
        <p:nvSpPr>
          <p:cNvPr id="8" name="">
            <a:extLst xmlns:a="http://schemas.openxmlformats.org/drawingml/2006/main">
              <a:ext uri="{FF2B5EF4-FFF2-40B4-BE49-F238E27FC236}">
                <a16:creationId xmlns:a16="http://schemas.microsoft.com/office/drawing/2014/main" id="{105541E1-8F4D-4328-A4B1-7709E6106597}"/>
              </a:ext>
            </a:extLst>
          </p:cNvPr>
          <p:cNvSpPr>
            <a:spLocks xmlns:a="http://schemas.openxmlformats.org/drawingml/2006/main" noGrp="1"/>
          </p:cNvSpPr>
          <p:nvPr/>
        </p:nvSpPr>
        <p:spPr>
          <a:xfrm xmlns:a="http://schemas.openxmlformats.org/drawingml/2006/main">
            <a:off x="3429000" y="3867150"/>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Azure AI Foundry prompt agent</a:t>
            </a:r>
          </a:p>
        </p:txBody>
      </p:sp>
      <p:sp>
        <p:nvSpPr>
          <p:cNvPr id="9" name="">
            <a:extLst xmlns:a="http://schemas.openxmlformats.org/drawingml/2006/main">
              <a:ext uri="{FF2B5EF4-FFF2-40B4-BE49-F238E27FC236}">
                <a16:creationId xmlns:a16="http://schemas.microsoft.com/office/drawing/2014/main" id="{0A28E171-70FC-4A93-B4A9-B0BB1E7DAB44}"/>
              </a:ext>
            </a:extLst>
          </p:cNvPr>
          <p:cNvSpPr>
            <a:spLocks xmlns:a="http://schemas.openxmlformats.org/drawingml/2006/main" noGrp="1"/>
          </p:cNvSpPr>
          <p:nvPr/>
        </p:nvSpPr>
        <p:spPr>
          <a:xfrm xmlns:a="http://schemas.openxmlformats.org/drawingml/2006/main">
            <a:off x="685800" y="484822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Persistence</a:t>
            </a:r>
          </a:p>
        </p:txBody>
      </p:sp>
      <p:sp>
        <p:nvSpPr>
          <p:cNvPr id="10" name="">
            <a:extLst xmlns:a="http://schemas.openxmlformats.org/drawingml/2006/main">
              <a:ext uri="{FF2B5EF4-FFF2-40B4-BE49-F238E27FC236}">
                <a16:creationId xmlns:a16="http://schemas.microsoft.com/office/drawing/2014/main" id="{49B83AE1-BFC9-4A1F-81A8-6D4017CC2CB5}"/>
              </a:ext>
            </a:extLst>
          </p:cNvPr>
          <p:cNvSpPr>
            <a:spLocks xmlns:a="http://schemas.openxmlformats.org/drawingml/2006/main" noGrp="1"/>
          </p:cNvSpPr>
          <p:nvPr/>
        </p:nvSpPr>
        <p:spPr>
          <a:xfrm xmlns:a="http://schemas.openxmlformats.org/drawingml/2006/main">
            <a:off x="3429000" y="484822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SQLite orders, messages, tickets, and audit events</a:t>
            </a:r>
          </a:p>
        </p:txBody>
      </p:sp>
    </p:spTree>
    <p:extLst>
      <p:ext uri="{BB962C8B-B14F-4D97-AF65-F5344CB8AC3E}">
        <p14:creationId xmlns:p14="http://schemas.microsoft.com/office/powerpoint/2010/main" val="1032414979"/>
      </p:ext>
    </p:extLst>
  </p:cSld>
</p:sld>
</file>

<file path=ppt/slides/slide5.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8D88BD-D6A2-4178-8AB5-60FB429FE3C8}"/>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Customer experience</a:t>
            </a:r>
          </a:p>
        </p:txBody>
      </p:sp>
      <p:sp>
        <p:nvSpPr>
          <p:cNvPr id="2" name="">
            <a:extLst xmlns:a="http://schemas.openxmlformats.org/drawingml/2006/main">
              <a:ext uri="{FF2B5EF4-FFF2-40B4-BE49-F238E27FC236}">
                <a16:creationId xmlns:a16="http://schemas.microsoft.com/office/drawing/2014/main" id="{21E3575A-E6CF-4748-B722-458E1FC2862F}"/>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58F0D480-B8D4-431F-8E9D-5ABB04B7FD58}"/>
              </a:ext>
            </a:extLst>
          </p:cNvPr>
          <p:cNvSpPr>
            <a:spLocks xmlns:a="http://schemas.openxmlformats.org/drawingml/2006/main" noGrp="1"/>
          </p:cNvSpPr>
          <p:nvPr/>
        </p:nvSpPr>
        <p:spPr>
          <a:xfrm xmlns:a="http://schemas.openxmlformats.org/drawingml/2006/main">
            <a:off x="7953375" y="18097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51D5"/>
                </a:solidFill>
                <a:latin typeface="Helvetica Neue"/>
                <a:ea typeface="Helvetica Neue"/>
                <a:cs typeface="Helvetica Neue"/>
              </a:defRPr>
            </a:pPr>
            <a:r>
              <a:rPr sz="1350" b="1">
                <a:solidFill>
                  <a:srgbClr val="0051D5"/>
                </a:solidFill>
                <a:latin typeface="Helvetica Neue"/>
                <a:ea typeface="Helvetica Neue"/>
                <a:cs typeface="Helvetica Neue"/>
              </a:rPr>
              <a:t>CUSTOMER</a:t>
            </a:r>
          </a:p>
        </p:txBody>
      </p:sp>
      <p:sp>
        <p:nvSpPr>
          <p:cNvPr id="4" name="">
            <a:extLst xmlns:a="http://schemas.openxmlformats.org/drawingml/2006/main">
              <a:ext uri="{FF2B5EF4-FFF2-40B4-BE49-F238E27FC236}">
                <a16:creationId xmlns:a16="http://schemas.microsoft.com/office/drawing/2014/main" id="{EAB3A15F-C37A-4E91-A050-4ABA6C8BF8F1}"/>
              </a:ext>
            </a:extLst>
          </p:cNvPr>
          <p:cNvSpPr>
            <a:spLocks xmlns:a="http://schemas.openxmlformats.org/drawingml/2006/main" noGrp="1"/>
          </p:cNvSpPr>
          <p:nvPr/>
        </p:nvSpPr>
        <p:spPr>
          <a:xfrm xmlns:a="http://schemas.openxmlformats.org/drawingml/2006/main">
            <a:off x="6381750" y="22479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51D5"/>
                </a:solidFill>
                <a:latin typeface="Helvetica Neue"/>
                <a:ea typeface="Helvetica Neue"/>
                <a:cs typeface="Helvetica Neue"/>
              </a:defRPr>
            </a:pPr>
            <a:r>
              <a:rPr sz="2850" b="1">
                <a:solidFill>
                  <a:srgbClr val="0051D5"/>
                </a:solidFill>
                <a:latin typeface="Helvetica Neue"/>
                <a:ea typeface="Helvetica Neue"/>
                <a:cs typeface="Helvetica Neue"/>
              </a:rPr>
              <a:t>“Where is my order?”</a:t>
            </a:r>
          </a:p>
        </p:txBody>
      </p:sp>
      <p:sp>
        <p:nvSpPr>
          <p:cNvPr id="5" name="">
            <a:extLst xmlns:a="http://schemas.openxmlformats.org/drawingml/2006/main">
              <a:ext uri="{FF2B5EF4-FFF2-40B4-BE49-F238E27FC236}">
                <a16:creationId xmlns:a16="http://schemas.microsoft.com/office/drawing/2014/main" id="{6E77FCC7-CC85-4EFB-8BBB-18BA858AC7D8}"/>
              </a:ext>
            </a:extLst>
          </p:cNvPr>
          <p:cNvSpPr>
            <a:spLocks xmlns:a="http://schemas.openxmlformats.org/drawingml/2006/main" noGrp="1"/>
          </p:cNvSpPr>
          <p:nvPr/>
        </p:nvSpPr>
        <p:spPr>
          <a:xfrm xmlns:a="http://schemas.openxmlformats.org/drawingml/2006/main">
            <a:off x="723900" y="32194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3657C"/>
                </a:solidFill>
                <a:latin typeface="Helvetica Neue"/>
                <a:ea typeface="Helvetica Neue"/>
                <a:cs typeface="Helvetica Neue"/>
              </a:defRPr>
            </a:pPr>
            <a:r>
              <a:rPr sz="1350" b="1">
                <a:solidFill>
                  <a:srgbClr val="53657C"/>
                </a:solidFill>
                <a:latin typeface="Helvetica Neue"/>
                <a:ea typeface="Helvetica Neue"/>
                <a:cs typeface="Helvetica Neue"/>
              </a:rPr>
              <a:t>ACME AI</a:t>
            </a:r>
          </a:p>
        </p:txBody>
      </p:sp>
      <p:sp>
        <p:nvSpPr>
          <p:cNvPr id="6" name="">
            <a:extLst xmlns:a="http://schemas.openxmlformats.org/drawingml/2006/main">
              <a:ext uri="{FF2B5EF4-FFF2-40B4-BE49-F238E27FC236}">
                <a16:creationId xmlns:a16="http://schemas.microsoft.com/office/drawing/2014/main" id="{995E1BD1-886C-4863-AF81-FC60F5A8F109}"/>
              </a:ext>
            </a:extLst>
          </p:cNvPr>
          <p:cNvSpPr>
            <a:spLocks xmlns:a="http://schemas.openxmlformats.org/drawingml/2006/main" noGrp="1"/>
          </p:cNvSpPr>
          <p:nvPr/>
        </p:nvSpPr>
        <p:spPr>
          <a:xfrm xmlns:a="http://schemas.openxmlformats.org/drawingml/2006/main">
            <a:off x="723900" y="3657600"/>
            <a:ext cx="9525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4263F"/>
                </a:solidFill>
                <a:latin typeface="Helvetica Neue"/>
                <a:ea typeface="Helvetica Neue"/>
                <a:cs typeface="Helvetica Neue"/>
              </a:defRPr>
            </a:pPr>
            <a:r>
              <a:rPr sz="2700" b="0">
                <a:solidFill>
                  <a:srgbClr val="14263F"/>
                </a:solidFill>
                <a:latin typeface="Helvetica Neue"/>
                <a:ea typeface="Helvetica Neue"/>
                <a:cs typeface="Helvetica Neue"/>
              </a:rPr>
              <a:t>“Your order has shipped.</a:t>
            </a:r>
          </a:p>
          <a:p xmlns:a="http://schemas.openxmlformats.org/drawingml/2006/main">
            <a:pPr>
              <a:defRPr sz="2700" b="0">
                <a:solidFill>
                  <a:srgbClr val="14263F"/>
                </a:solidFill>
                <a:latin typeface="Helvetica Neue"/>
                <a:ea typeface="Helvetica Neue"/>
                <a:cs typeface="Helvetica Neue"/>
              </a:defRPr>
            </a:pPr>
            <a:r>
              <a:rPr sz="2700" b="0">
                <a:solidFill>
                  <a:srgbClr val="14263F"/>
                </a:solidFill>
                <a:latin typeface="Helvetica Neue"/>
                <a:ea typeface="Helvetica Neue"/>
                <a:cs typeface="Helvetica Neue"/>
              </a:rPr>
              <a:t>Here is the estimated delivery date.”</a:t>
            </a:r>
          </a:p>
        </p:txBody>
      </p:sp>
      <p:sp>
        <p:nvSpPr>
          <p:cNvPr id="7" name="">
            <a:extLst xmlns:a="http://schemas.openxmlformats.org/drawingml/2006/main">
              <a:ext uri="{FF2B5EF4-FFF2-40B4-BE49-F238E27FC236}">
                <a16:creationId xmlns:a16="http://schemas.microsoft.com/office/drawing/2014/main" id="{0E2FA5CE-8743-4295-BAFF-DF42175B9A0E}"/>
              </a:ext>
            </a:extLst>
          </p:cNvPr>
          <p:cNvSpPr>
            <a:spLocks xmlns:a="http://schemas.openxmlformats.org/drawingml/2006/main" noGrp="1"/>
          </p:cNvSpPr>
          <p:nvPr/>
        </p:nvSpPr>
        <p:spPr>
          <a:xfrm xmlns:a="http://schemas.openxmlformats.org/drawingml/2006/main">
            <a:off x="723900" y="55245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C"/>
                </a:solidFill>
                <a:latin typeface="Helvetica Neue"/>
                <a:ea typeface="Helvetica Neue"/>
                <a:cs typeface="Helvetica Neue"/>
              </a:defRPr>
            </a:pPr>
            <a:r>
              <a:rPr sz="2025" b="0">
                <a:solidFill>
                  <a:srgbClr val="53657C"/>
                </a:solidFill>
                <a:latin typeface="Helvetica Neue"/>
                <a:ea typeface="Helvetica Neue"/>
                <a:cs typeface="Helvetica Neue"/>
              </a:rPr>
              <a:t>Order context stays with the conversation after a refresh.</a:t>
            </a:r>
          </a:p>
        </p:txBody>
      </p:sp>
    </p:spTree>
    <p:extLst>
      <p:ext uri="{BB962C8B-B14F-4D97-AF65-F5344CB8AC3E}">
        <p14:creationId xmlns:p14="http://schemas.microsoft.com/office/powerpoint/2010/main" val="535230331"/>
      </p:ext>
    </p:extLst>
  </p:cSld>
</p:sld>
</file>

<file path=ppt/slides/slide6.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06C70D-970E-4268-9AAA-A923C42929B7}"/>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Human assistance</a:t>
            </a:r>
          </a:p>
        </p:txBody>
      </p:sp>
      <p:sp>
        <p:nvSpPr>
          <p:cNvPr id="2" name="">
            <a:extLst xmlns:a="http://schemas.openxmlformats.org/drawingml/2006/main">
              <a:ext uri="{FF2B5EF4-FFF2-40B4-BE49-F238E27FC236}">
                <a16:creationId xmlns:a16="http://schemas.microsoft.com/office/drawing/2014/main" id="{6DF6761D-C238-4EA4-B261-32C25BC92849}"/>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0228C90F-8554-4DDF-B4FC-1057990C4B0F}"/>
              </a:ext>
            </a:extLst>
          </p:cNvPr>
          <p:cNvSpPr>
            <a:spLocks xmlns:a="http://schemas.openxmlformats.org/drawingml/2006/main" noGrp="1"/>
          </p:cNvSpPr>
          <p:nvPr/>
        </p:nvSpPr>
        <p:spPr>
          <a:xfrm xmlns:a="http://schemas.openxmlformats.org/drawingml/2006/main">
            <a:off x="685800" y="175260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A983BBAF-B5E6-414B-AB23-39D97DE49612}"/>
              </a:ext>
            </a:extLst>
          </p:cNvPr>
          <p:cNvSpPr>
            <a:spLocks xmlns:a="http://schemas.openxmlformats.org/drawingml/2006/main" noGrp="1"/>
          </p:cNvSpPr>
          <p:nvPr/>
        </p:nvSpPr>
        <p:spPr>
          <a:xfrm xmlns:a="http://schemas.openxmlformats.org/drawingml/2006/main">
            <a:off x="1809750" y="1752600"/>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Customer requests a human</a:t>
            </a:r>
          </a:p>
        </p:txBody>
      </p:sp>
      <p:sp>
        <p:nvSpPr>
          <p:cNvPr id="5" name="">
            <a:extLst xmlns:a="http://schemas.openxmlformats.org/drawingml/2006/main">
              <a:ext uri="{FF2B5EF4-FFF2-40B4-BE49-F238E27FC236}">
                <a16:creationId xmlns:a16="http://schemas.microsoft.com/office/drawing/2014/main" id="{23C92CD6-DF5E-40D6-B815-E9080D783834}"/>
              </a:ext>
            </a:extLst>
          </p:cNvPr>
          <p:cNvSpPr>
            <a:spLocks xmlns:a="http://schemas.openxmlformats.org/drawingml/2006/main" noGrp="1"/>
          </p:cNvSpPr>
          <p:nvPr/>
        </p:nvSpPr>
        <p:spPr>
          <a:xfrm xmlns:a="http://schemas.openxmlformats.org/drawingml/2006/main">
            <a:off x="1809750" y="2219325"/>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The app opens a ticket with the transcript and context.</a:t>
            </a:r>
          </a:p>
        </p:txBody>
      </p:sp>
      <p:sp>
        <p:nvSpPr>
          <p:cNvPr id="6" name="">
            <a:extLst xmlns:a="http://schemas.openxmlformats.org/drawingml/2006/main">
              <a:ext uri="{FF2B5EF4-FFF2-40B4-BE49-F238E27FC236}">
                <a16:creationId xmlns:a16="http://schemas.microsoft.com/office/drawing/2014/main" id="{E8596DB2-B60B-46A7-AE23-D28F30960A81}"/>
              </a:ext>
            </a:extLst>
          </p:cNvPr>
          <p:cNvSpPr>
            <a:spLocks xmlns:a="http://schemas.openxmlformats.org/drawingml/2006/main" noGrp="1"/>
          </p:cNvSpPr>
          <p:nvPr/>
        </p:nvSpPr>
        <p:spPr>
          <a:xfrm xmlns:a="http://schemas.openxmlformats.org/drawingml/2006/main">
            <a:off x="685800" y="2828925"/>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40F6C8A5-501E-4BFD-8347-78B7C5516925}"/>
              </a:ext>
            </a:extLst>
          </p:cNvPr>
          <p:cNvSpPr>
            <a:spLocks xmlns:a="http://schemas.openxmlformats.org/drawingml/2006/main" noGrp="1"/>
          </p:cNvSpPr>
          <p:nvPr/>
        </p:nvSpPr>
        <p:spPr>
          <a:xfrm xmlns:a="http://schemas.openxmlformats.org/drawingml/2006/main">
            <a:off x="1809750" y="2828925"/>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Specialist takes the conversation</a:t>
            </a:r>
          </a:p>
        </p:txBody>
      </p:sp>
      <p:sp>
        <p:nvSpPr>
          <p:cNvPr id="8" name="">
            <a:extLst xmlns:a="http://schemas.openxmlformats.org/drawingml/2006/main">
              <a:ext uri="{FF2B5EF4-FFF2-40B4-BE49-F238E27FC236}">
                <a16:creationId xmlns:a16="http://schemas.microsoft.com/office/drawing/2014/main" id="{C61B6F11-6A55-4C0C-8F20-26F32F575DD9}"/>
              </a:ext>
            </a:extLst>
          </p:cNvPr>
          <p:cNvSpPr>
            <a:spLocks xmlns:a="http://schemas.openxmlformats.org/drawingml/2006/main" noGrp="1"/>
          </p:cNvSpPr>
          <p:nvPr/>
        </p:nvSpPr>
        <p:spPr>
          <a:xfrm xmlns:a="http://schemas.openxmlformats.org/drawingml/2006/main">
            <a:off x="1809750" y="3295650"/>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Human replies appear in the same customer chat.</a:t>
            </a:r>
          </a:p>
        </p:txBody>
      </p:sp>
      <p:sp>
        <p:nvSpPr>
          <p:cNvPr id="9" name="">
            <a:extLst xmlns:a="http://schemas.openxmlformats.org/drawingml/2006/main">
              <a:ext uri="{FF2B5EF4-FFF2-40B4-BE49-F238E27FC236}">
                <a16:creationId xmlns:a16="http://schemas.microsoft.com/office/drawing/2014/main" id="{F17C31D4-810E-44D0-B8ED-4D9C3ECFBA25}"/>
              </a:ext>
            </a:extLst>
          </p:cNvPr>
          <p:cNvSpPr>
            <a:spLocks xmlns:a="http://schemas.openxmlformats.org/drawingml/2006/main" noGrp="1"/>
          </p:cNvSpPr>
          <p:nvPr/>
        </p:nvSpPr>
        <p:spPr>
          <a:xfrm xmlns:a="http://schemas.openxmlformats.org/drawingml/2006/main">
            <a:off x="685800" y="39052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ED30835D-B3A8-4861-A355-AEFD8B58A7D7}"/>
              </a:ext>
            </a:extLst>
          </p:cNvPr>
          <p:cNvSpPr>
            <a:spLocks xmlns:a="http://schemas.openxmlformats.org/drawingml/2006/main" noGrp="1"/>
          </p:cNvSpPr>
          <p:nvPr/>
        </p:nvSpPr>
        <p:spPr>
          <a:xfrm xmlns:a="http://schemas.openxmlformats.org/drawingml/2006/main">
            <a:off x="1809750" y="3905250"/>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Customer chooses what happens next</a:t>
            </a:r>
          </a:p>
        </p:txBody>
      </p:sp>
      <p:sp>
        <p:nvSpPr>
          <p:cNvPr id="11" name="">
            <a:extLst xmlns:a="http://schemas.openxmlformats.org/drawingml/2006/main">
              <a:ext uri="{FF2B5EF4-FFF2-40B4-BE49-F238E27FC236}">
                <a16:creationId xmlns:a16="http://schemas.microsoft.com/office/drawing/2014/main" id="{8D423C13-D726-45A8-807C-E172ED91D969}"/>
              </a:ext>
            </a:extLst>
          </p:cNvPr>
          <p:cNvSpPr>
            <a:spLocks xmlns:a="http://schemas.openxmlformats.org/drawingml/2006/main" noGrp="1"/>
          </p:cNvSpPr>
          <p:nvPr/>
        </p:nvSpPr>
        <p:spPr>
          <a:xfrm xmlns:a="http://schemas.openxmlformats.org/drawingml/2006/main">
            <a:off x="1809750" y="4371975"/>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Continue with the specialist or switch back to AI.</a:t>
            </a:r>
          </a:p>
        </p:txBody>
      </p:sp>
      <p:sp>
        <p:nvSpPr>
          <p:cNvPr id="12" name="">
            <a:extLst xmlns:a="http://schemas.openxmlformats.org/drawingml/2006/main">
              <a:ext uri="{FF2B5EF4-FFF2-40B4-BE49-F238E27FC236}">
                <a16:creationId xmlns:a16="http://schemas.microsoft.com/office/drawing/2014/main" id="{EF74B09D-BA60-428A-BC69-DD1FAB23B5E9}"/>
              </a:ext>
            </a:extLst>
          </p:cNvPr>
          <p:cNvSpPr>
            <a:spLocks xmlns:a="http://schemas.openxmlformats.org/drawingml/2006/main" noGrp="1"/>
          </p:cNvSpPr>
          <p:nvPr/>
        </p:nvSpPr>
        <p:spPr>
          <a:xfrm xmlns:a="http://schemas.openxmlformats.org/drawingml/2006/main">
            <a:off x="685800" y="4981575"/>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2B2C7A81-4E3B-440B-9E42-9E57A203F9D8}"/>
              </a:ext>
            </a:extLst>
          </p:cNvPr>
          <p:cNvSpPr>
            <a:spLocks xmlns:a="http://schemas.openxmlformats.org/drawingml/2006/main" noGrp="1"/>
          </p:cNvSpPr>
          <p:nvPr/>
        </p:nvSpPr>
        <p:spPr>
          <a:xfrm xmlns:a="http://schemas.openxmlformats.org/drawingml/2006/main">
            <a:off x="1809750" y="4981575"/>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Specialist resolves the ticket</a:t>
            </a:r>
          </a:p>
        </p:txBody>
      </p:sp>
      <p:sp>
        <p:nvSpPr>
          <p:cNvPr id="14" name="">
            <a:extLst xmlns:a="http://schemas.openxmlformats.org/drawingml/2006/main">
              <a:ext uri="{FF2B5EF4-FFF2-40B4-BE49-F238E27FC236}">
                <a16:creationId xmlns:a16="http://schemas.microsoft.com/office/drawing/2014/main" id="{68892A01-6D3E-482B-835F-7B9C225C2F85}"/>
              </a:ext>
            </a:extLst>
          </p:cNvPr>
          <p:cNvSpPr>
            <a:spLocks xmlns:a="http://schemas.openxmlformats.org/drawingml/2006/main" noGrp="1"/>
          </p:cNvSpPr>
          <p:nvPr/>
        </p:nvSpPr>
        <p:spPr>
          <a:xfrm xmlns:a="http://schemas.openxmlformats.org/drawingml/2006/main">
            <a:off x="1809750" y="5448300"/>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The chat displays a closure notice and stops new messages.</a:t>
            </a:r>
          </a:p>
        </p:txBody>
      </p:sp>
    </p:spTree>
    <p:extLst>
      <p:ext uri="{BB962C8B-B14F-4D97-AF65-F5344CB8AC3E}">
        <p14:creationId xmlns:p14="http://schemas.microsoft.com/office/powerpoint/2010/main" val="1720795529"/>
      </p:ext>
    </p:extLst>
  </p:cSld>
</p:sld>
</file>

<file path=ppt/slides/slide7.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4E588E-F229-4F15-80BC-102C94B75319}"/>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The support workspace</a:t>
            </a:r>
          </a:p>
        </p:txBody>
      </p:sp>
      <p:sp>
        <p:nvSpPr>
          <p:cNvPr id="2" name="">
            <a:extLst xmlns:a="http://schemas.openxmlformats.org/drawingml/2006/main">
              <a:ext uri="{FF2B5EF4-FFF2-40B4-BE49-F238E27FC236}">
                <a16:creationId xmlns:a16="http://schemas.microsoft.com/office/drawing/2014/main" id="{E41DDC4B-32D2-43D5-A120-645B29335CA7}"/>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8801302D-5883-4C4F-ADD6-E36CE2DB4EA1}"/>
              </a:ext>
            </a:extLst>
          </p:cNvPr>
          <p:cNvSpPr>
            <a:spLocks xmlns:a="http://schemas.openxmlformats.org/drawingml/2006/main" noGrp="1"/>
          </p:cNvSpPr>
          <p:nvPr/>
        </p:nvSpPr>
        <p:spPr>
          <a:xfrm xmlns:a="http://schemas.openxmlformats.org/drawingml/2006/main">
            <a:off x="68580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Current customer first</a:t>
            </a:r>
          </a:p>
        </p:txBody>
      </p:sp>
      <p:sp>
        <p:nvSpPr>
          <p:cNvPr id="4" name="">
            <a:extLst xmlns:a="http://schemas.openxmlformats.org/drawingml/2006/main">
              <a:ext uri="{FF2B5EF4-FFF2-40B4-BE49-F238E27FC236}">
                <a16:creationId xmlns:a16="http://schemas.microsoft.com/office/drawing/2014/main" id="{675430F0-D4E4-42EE-B1A8-29691B6F7280}"/>
              </a:ext>
            </a:extLst>
          </p:cNvPr>
          <p:cNvSpPr>
            <a:spLocks xmlns:a="http://schemas.openxmlformats.org/drawingml/2006/main" noGrp="1"/>
          </p:cNvSpPr>
          <p:nvPr/>
        </p:nvSpPr>
        <p:spPr>
          <a:xfrm xmlns:a="http://schemas.openxmlformats.org/drawingml/2006/main">
            <a:off x="68580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The default view shows the latest active ticket.</a:t>
            </a:r>
          </a:p>
        </p:txBody>
      </p:sp>
      <p:sp>
        <p:nvSpPr>
          <p:cNvPr id="5" name="">
            <a:extLst xmlns:a="http://schemas.openxmlformats.org/drawingml/2006/main">
              <a:ext uri="{FF2B5EF4-FFF2-40B4-BE49-F238E27FC236}">
                <a16:creationId xmlns:a16="http://schemas.microsoft.com/office/drawing/2014/main" id="{99309134-3383-4882-BBA3-79ABFB247194}"/>
              </a:ext>
            </a:extLst>
          </p:cNvPr>
          <p:cNvSpPr>
            <a:spLocks xmlns:a="http://schemas.openxmlformats.org/drawingml/2006/main" noGrp="1"/>
          </p:cNvSpPr>
          <p:nvPr/>
        </p:nvSpPr>
        <p:spPr>
          <a:xfrm xmlns:a="http://schemas.openxmlformats.org/drawingml/2006/main">
            <a:off x="649605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Context beside the reply</a:t>
            </a:r>
          </a:p>
        </p:txBody>
      </p:sp>
      <p:sp>
        <p:nvSpPr>
          <p:cNvPr id="6" name="">
            <a:extLst xmlns:a="http://schemas.openxmlformats.org/drawingml/2006/main">
              <a:ext uri="{FF2B5EF4-FFF2-40B4-BE49-F238E27FC236}">
                <a16:creationId xmlns:a16="http://schemas.microsoft.com/office/drawing/2014/main" id="{7CF2EEA3-B08B-4D3D-8C82-EB379C32F181}"/>
              </a:ext>
            </a:extLst>
          </p:cNvPr>
          <p:cNvSpPr>
            <a:spLocks xmlns:a="http://schemas.openxmlformats.org/drawingml/2006/main" noGrp="1"/>
          </p:cNvSpPr>
          <p:nvPr/>
        </p:nvSpPr>
        <p:spPr>
          <a:xfrm xmlns:a="http://schemas.openxmlformats.org/drawingml/2006/main">
            <a:off x="649605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The specialist sees history, order details, and the handoff reason.</a:t>
            </a:r>
          </a:p>
        </p:txBody>
      </p:sp>
      <p:sp>
        <p:nvSpPr>
          <p:cNvPr id="7" name="">
            <a:extLst xmlns:a="http://schemas.openxmlformats.org/drawingml/2006/main">
              <a:ext uri="{FF2B5EF4-FFF2-40B4-BE49-F238E27FC236}">
                <a16:creationId xmlns:a16="http://schemas.microsoft.com/office/drawing/2014/main" id="{2C1009E2-5F07-4188-A2F0-DB62B565B88A}"/>
              </a:ext>
            </a:extLst>
          </p:cNvPr>
          <p:cNvSpPr>
            <a:spLocks xmlns:a="http://schemas.openxmlformats.org/drawingml/2006/main" noGrp="1"/>
          </p:cNvSpPr>
          <p:nvPr/>
        </p:nvSpPr>
        <p:spPr>
          <a:xfrm xmlns:a="http://schemas.openxmlformats.org/drawingml/2006/main">
            <a:off x="68580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Stable ticket selection</a:t>
            </a:r>
          </a:p>
        </p:txBody>
      </p:sp>
      <p:sp>
        <p:nvSpPr>
          <p:cNvPr id="8" name="">
            <a:extLst xmlns:a="http://schemas.openxmlformats.org/drawingml/2006/main">
              <a:ext uri="{FF2B5EF4-FFF2-40B4-BE49-F238E27FC236}">
                <a16:creationId xmlns:a16="http://schemas.microsoft.com/office/drawing/2014/main" id="{C56DF937-C59B-4AA2-B0E1-D65A32CC06AB}"/>
              </a:ext>
            </a:extLst>
          </p:cNvPr>
          <p:cNvSpPr>
            <a:spLocks xmlns:a="http://schemas.openxmlformats.org/drawingml/2006/main" noGrp="1"/>
          </p:cNvSpPr>
          <p:nvPr/>
        </p:nvSpPr>
        <p:spPr>
          <a:xfrm xmlns:a="http://schemas.openxmlformats.org/drawingml/2006/main">
            <a:off x="68580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Sending a reply keeps the same case selected.</a:t>
            </a:r>
          </a:p>
        </p:txBody>
      </p:sp>
      <p:sp>
        <p:nvSpPr>
          <p:cNvPr id="9" name="">
            <a:extLst xmlns:a="http://schemas.openxmlformats.org/drawingml/2006/main">
              <a:ext uri="{FF2B5EF4-FFF2-40B4-BE49-F238E27FC236}">
                <a16:creationId xmlns:a16="http://schemas.microsoft.com/office/drawing/2014/main" id="{318D1FEB-2C7B-4D92-A4DE-BC499035136A}"/>
              </a:ext>
            </a:extLst>
          </p:cNvPr>
          <p:cNvSpPr>
            <a:spLocks xmlns:a="http://schemas.openxmlformats.org/drawingml/2006/main" noGrp="1"/>
          </p:cNvSpPr>
          <p:nvPr/>
        </p:nvSpPr>
        <p:spPr>
          <a:xfrm xmlns:a="http://schemas.openxmlformats.org/drawingml/2006/main">
            <a:off x="649605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Visible resolution</a:t>
            </a:r>
          </a:p>
        </p:txBody>
      </p:sp>
      <p:sp>
        <p:nvSpPr>
          <p:cNvPr id="10" name="">
            <a:extLst xmlns:a="http://schemas.openxmlformats.org/drawingml/2006/main">
              <a:ext uri="{FF2B5EF4-FFF2-40B4-BE49-F238E27FC236}">
                <a16:creationId xmlns:a16="http://schemas.microsoft.com/office/drawing/2014/main" id="{7FB41F75-FBA9-4352-A5DC-646558C29FCD}"/>
              </a:ext>
            </a:extLst>
          </p:cNvPr>
          <p:cNvSpPr>
            <a:spLocks xmlns:a="http://schemas.openxmlformats.org/drawingml/2006/main" noGrp="1"/>
          </p:cNvSpPr>
          <p:nvPr/>
        </p:nvSpPr>
        <p:spPr>
          <a:xfrm xmlns:a="http://schemas.openxmlformats.org/drawingml/2006/main">
            <a:off x="649605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Closing a ticket notifies the customer and closes the conversation.</a:t>
            </a:r>
          </a:p>
        </p:txBody>
      </p:sp>
    </p:spTree>
    <p:extLst>
      <p:ext uri="{BB962C8B-B14F-4D97-AF65-F5344CB8AC3E}">
        <p14:creationId xmlns:p14="http://schemas.microsoft.com/office/powerpoint/2010/main" val="1583757389"/>
      </p:ext>
    </p:extLst>
  </p:cSld>
</p:sld>
</file>

<file path=ppt/slides/slide8.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A0C3CC-7A70-4AAA-AD39-11A86430AB13}"/>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Data and response boundaries</a:t>
            </a:r>
          </a:p>
        </p:txBody>
      </p:sp>
      <p:sp>
        <p:nvSpPr>
          <p:cNvPr id="2" name="">
            <a:extLst xmlns:a="http://schemas.openxmlformats.org/drawingml/2006/main">
              <a:ext uri="{FF2B5EF4-FFF2-40B4-BE49-F238E27FC236}">
                <a16:creationId xmlns:a16="http://schemas.microsoft.com/office/drawing/2014/main" id="{15863C91-2281-403E-8341-04FB26490BF5}"/>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25465E12-DA98-48B5-9D50-37BB72D4B2CD}"/>
              </a:ext>
            </a:extLst>
          </p:cNvPr>
          <p:cNvSpPr>
            <a:spLocks xmlns:a="http://schemas.openxmlformats.org/drawingml/2006/main" noGrp="1"/>
          </p:cNvSpPr>
          <p:nvPr/>
        </p:nvSpPr>
        <p:spPr>
          <a:xfrm xmlns:a="http://schemas.openxmlformats.org/drawingml/2006/main">
            <a:off x="685800" y="18097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51D5"/>
                </a:solidFill>
                <a:latin typeface="Helvetica Neue"/>
                <a:ea typeface="Helvetica Neue"/>
                <a:cs typeface="Helvetica Neue"/>
              </a:defRPr>
            </a:pPr>
            <a:r>
              <a:rPr sz="3000" b="1">
                <a:solidFill>
                  <a:srgbClr val="0051D5"/>
                </a:solidFill>
                <a:latin typeface="Helvetica Neue"/>
                <a:ea typeface="Helvetica Neue"/>
                <a:cs typeface="Helvetica Neue"/>
              </a:rPr>
              <a:t>Stored order facts guide the answer</a:t>
            </a:r>
          </a:p>
        </p:txBody>
      </p:sp>
      <p:sp>
        <p:nvSpPr>
          <p:cNvPr id="4" name="">
            <a:extLst xmlns:a="http://schemas.openxmlformats.org/drawingml/2006/main">
              <a:ext uri="{FF2B5EF4-FFF2-40B4-BE49-F238E27FC236}">
                <a16:creationId xmlns:a16="http://schemas.microsoft.com/office/drawing/2014/main" id="{C9C2B73B-A2B3-4EB4-A224-DA63625EF731}"/>
              </a:ext>
            </a:extLst>
          </p:cNvPr>
          <p:cNvSpPr>
            <a:spLocks xmlns:a="http://schemas.openxmlformats.org/drawingml/2006/main" noGrp="1"/>
          </p:cNvSpPr>
          <p:nvPr/>
        </p:nvSpPr>
        <p:spPr>
          <a:xfrm xmlns:a="http://schemas.openxmlformats.org/drawingml/2006/main">
            <a:off x="685800" y="271462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F"/>
                </a:solidFill>
                <a:latin typeface="Helvetica Neue"/>
                <a:ea typeface="Helvetica Neue"/>
                <a:cs typeface="Helvetica Neue"/>
              </a:defRPr>
            </a:pPr>
            <a:r>
              <a:rPr sz="2250" b="0">
                <a:solidFill>
                  <a:srgbClr val="14263F"/>
                </a:solidFill>
                <a:latin typeface="Helvetica Neue"/>
                <a:ea typeface="Helvetica Neue"/>
                <a:cs typeface="Helvetica Neue"/>
              </a:rPr>
              <a:t>Lookup retrieves order status and delivery information from SQLite.</a:t>
            </a:r>
          </a:p>
          <a:p xmlns:a="http://schemas.openxmlformats.org/drawingml/2006/main">
            <a:pPr>
              <a:defRPr sz="2250" b="0">
                <a:solidFill>
                  <a:srgbClr val="14263F"/>
                </a:solidFill>
                <a:latin typeface="Helvetica Neue"/>
                <a:ea typeface="Helvetica Neue"/>
                <a:cs typeface="Helvetica Neue"/>
              </a:defRPr>
            </a:pPr>
            <a:r>
              <a:rPr sz="2250" b="0">
                <a:solidFill>
                  <a:srgbClr val="14263F"/>
                </a:solidFill>
                <a:latin typeface="Helvetica Neue"/>
                <a:ea typeface="Helvetica Neue"/>
                <a:cs typeface="Helvetica Neue"/>
              </a:rPr>
              <a:t>A supplied email must match the order’s customer.</a:t>
            </a:r>
          </a:p>
        </p:txBody>
      </p:sp>
      <p:sp>
        <p:nvSpPr>
          <p:cNvPr id="5" name="">
            <a:extLst xmlns:a="http://schemas.openxmlformats.org/drawingml/2006/main">
              <a:ext uri="{FF2B5EF4-FFF2-40B4-BE49-F238E27FC236}">
                <a16:creationId xmlns:a16="http://schemas.microsoft.com/office/drawing/2014/main" id="{E741117F-18F6-464A-829A-7FA3E8E12FF1}"/>
              </a:ext>
            </a:extLst>
          </p:cNvPr>
          <p:cNvSpPr>
            <a:spLocks xmlns:a="http://schemas.openxmlformats.org/drawingml/2006/main" noGrp="1"/>
          </p:cNvSpPr>
          <p:nvPr/>
        </p:nvSpPr>
        <p:spPr>
          <a:xfrm xmlns:a="http://schemas.openxmlformats.org/drawingml/2006/main">
            <a:off x="685800" y="42481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51D5"/>
                </a:solidFill>
                <a:latin typeface="Helvetica Neue"/>
                <a:ea typeface="Helvetica Neue"/>
                <a:cs typeface="Helvetica Neue"/>
              </a:defRPr>
            </a:pPr>
            <a:r>
              <a:rPr sz="2550" b="1">
                <a:solidFill>
                  <a:srgbClr val="0051D5"/>
                </a:solidFill>
                <a:latin typeface="Helvetica Neue"/>
                <a:ea typeface="Helvetica Neue"/>
                <a:cs typeface="Helvetica Neue"/>
              </a:rPr>
              <a:t>When the app cannot verify an answer</a:t>
            </a:r>
          </a:p>
        </p:txBody>
      </p:sp>
      <p:sp>
        <p:nvSpPr>
          <p:cNvPr id="6" name="">
            <a:extLst xmlns:a="http://schemas.openxmlformats.org/drawingml/2006/main">
              <a:ext uri="{FF2B5EF4-FFF2-40B4-BE49-F238E27FC236}">
                <a16:creationId xmlns:a16="http://schemas.microsoft.com/office/drawing/2014/main" id="{82BA14A5-1606-44B1-98AE-15B8272E2EB3}"/>
              </a:ext>
            </a:extLst>
          </p:cNvPr>
          <p:cNvSpPr>
            <a:spLocks xmlns:a="http://schemas.openxmlformats.org/drawingml/2006/main" noGrp="1"/>
          </p:cNvSpPr>
          <p:nvPr/>
        </p:nvSpPr>
        <p:spPr>
          <a:xfrm xmlns:a="http://schemas.openxmlformats.org/drawingml/2006/main">
            <a:off x="685800" y="5048250"/>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63F"/>
                </a:solidFill>
                <a:latin typeface="Helvetica Neue"/>
                <a:ea typeface="Helvetica Neue"/>
                <a:cs typeface="Helvetica Neue"/>
              </a:defRPr>
            </a:pPr>
            <a:r>
              <a:rPr sz="2175" b="0">
                <a:solidFill>
                  <a:srgbClr val="14263F"/>
                </a:solidFill>
                <a:latin typeface="Helvetica Neue"/>
                <a:ea typeface="Helvetica Neue"/>
                <a:cs typeface="Helvetica Neue"/>
              </a:rPr>
              <a:t>Missing orders or AI service failures create a human handoff.</a:t>
            </a:r>
          </a:p>
          <a:p xmlns:a="http://schemas.openxmlformats.org/drawingml/2006/main">
            <a:pPr>
              <a:defRPr sz="2175" b="0">
                <a:solidFill>
                  <a:srgbClr val="14263F"/>
                </a:solidFill>
                <a:latin typeface="Helvetica Neue"/>
                <a:ea typeface="Helvetica Neue"/>
                <a:cs typeface="Helvetica Neue"/>
              </a:defRPr>
            </a:pPr>
            <a:r>
              <a:rPr sz="2175" b="0">
                <a:solidFill>
                  <a:srgbClr val="14263F"/>
                </a:solidFill>
                <a:latin typeface="Helvetica Neue"/>
                <a:ea typeface="Helvetica Neue"/>
                <a:cs typeface="Helvetica Neue"/>
              </a:rPr>
              <a:t>Azure identity handles access to the AI service.</a:t>
            </a:r>
          </a:p>
        </p:txBody>
      </p:sp>
    </p:spTree>
    <p:extLst>
      <p:ext uri="{BB962C8B-B14F-4D97-AF65-F5344CB8AC3E}">
        <p14:creationId xmlns:p14="http://schemas.microsoft.com/office/powerpoint/2010/main" val="2023709311"/>
      </p:ext>
    </p:extLst>
  </p:cSld>
</p:sld>
</file>

<file path=ppt/slides/slide9.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7B7B5FD-F19D-4406-AAEE-00147D6FC430}"/>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Live demonstration</a:t>
            </a:r>
          </a:p>
        </p:txBody>
      </p:sp>
      <p:sp>
        <p:nvSpPr>
          <p:cNvPr id="2" name="">
            <a:extLst xmlns:a="http://schemas.openxmlformats.org/drawingml/2006/main">
              <a:ext uri="{FF2B5EF4-FFF2-40B4-BE49-F238E27FC236}">
                <a16:creationId xmlns:a16="http://schemas.microsoft.com/office/drawing/2014/main" id="{4655C358-2F15-4354-B96F-6859A1BA5A90}"/>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3F0CD87C-D545-47BE-96DD-6258C663A8B8}"/>
              </a:ext>
            </a:extLst>
          </p:cNvPr>
          <p:cNvSpPr>
            <a:spLocks xmlns:a="http://schemas.openxmlformats.org/drawingml/2006/main" noGrp="1"/>
          </p:cNvSpPr>
          <p:nvPr/>
        </p:nvSpPr>
        <p:spPr>
          <a:xfrm xmlns:a="http://schemas.openxmlformats.org/drawingml/2006/main">
            <a:off x="685800" y="18383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Demo order</a:t>
            </a:r>
          </a:p>
        </p:txBody>
      </p:sp>
      <p:sp>
        <p:nvSpPr>
          <p:cNvPr id="4" name="">
            <a:extLst xmlns:a="http://schemas.openxmlformats.org/drawingml/2006/main">
              <a:ext uri="{FF2B5EF4-FFF2-40B4-BE49-F238E27FC236}">
                <a16:creationId xmlns:a16="http://schemas.microsoft.com/office/drawing/2014/main" id="{488861B5-97F6-4940-B266-65338EEC22C3}"/>
              </a:ext>
            </a:extLst>
          </p:cNvPr>
          <p:cNvSpPr>
            <a:spLocks xmlns:a="http://schemas.openxmlformats.org/drawingml/2006/main" noGrp="1"/>
          </p:cNvSpPr>
          <p:nvPr/>
        </p:nvSpPr>
        <p:spPr>
          <a:xfrm xmlns:a="http://schemas.openxmlformats.org/drawingml/2006/main">
            <a:off x="685800" y="2505075"/>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4263F"/>
                </a:solidFill>
                <a:latin typeface="Helvetica Neue"/>
                <a:ea typeface="Helvetica Neue"/>
                <a:cs typeface="Helvetica Neue"/>
              </a:defRPr>
            </a:pPr>
            <a:r>
              <a:rPr sz="4275" b="1">
                <a:solidFill>
                  <a:srgbClr val="14263F"/>
                </a:solidFill>
                <a:latin typeface="Helvetica Neue"/>
                <a:ea typeface="Helvetica Neue"/>
                <a:cs typeface="Helvetica Neue"/>
              </a:rPr>
              <a:t>CS-1001</a:t>
            </a:r>
          </a:p>
        </p:txBody>
      </p:sp>
      <p:sp>
        <p:nvSpPr>
          <p:cNvPr id="5" name="">
            <a:extLst xmlns:a="http://schemas.openxmlformats.org/drawingml/2006/main">
              <a:ext uri="{FF2B5EF4-FFF2-40B4-BE49-F238E27FC236}">
                <a16:creationId xmlns:a16="http://schemas.microsoft.com/office/drawing/2014/main" id="{94DA42E7-06FA-4952-AE2F-4EB20D5C2A28}"/>
              </a:ext>
            </a:extLst>
          </p:cNvPr>
          <p:cNvSpPr>
            <a:spLocks xmlns:a="http://schemas.openxmlformats.org/drawingml/2006/main" noGrp="1"/>
          </p:cNvSpPr>
          <p:nvPr/>
        </p:nvSpPr>
        <p:spPr>
          <a:xfrm xmlns:a="http://schemas.openxmlformats.org/drawingml/2006/main">
            <a:off x="685800" y="34766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C"/>
                </a:solidFill>
                <a:latin typeface="Helvetica Neue"/>
                <a:ea typeface="Helvetica Neue"/>
                <a:cs typeface="Helvetica Neue"/>
              </a:defRPr>
            </a:pPr>
            <a:r>
              <a:rPr sz="2025" b="0">
                <a:solidFill>
                  <a:srgbClr val="53657C"/>
                </a:solidFill>
                <a:latin typeface="Helvetica Neue"/>
                <a:ea typeface="Helvetica Neue"/>
                <a:cs typeface="Helvetica Neue"/>
              </a:rPr>
              <a:t>alex.morgan@example.com</a:t>
            </a:r>
          </a:p>
        </p:txBody>
      </p:sp>
      <p:sp>
        <p:nvSpPr>
          <p:cNvPr id="6" name="">
            <a:extLst xmlns:a="http://schemas.openxmlformats.org/drawingml/2006/main">
              <a:ext uri="{FF2B5EF4-FFF2-40B4-BE49-F238E27FC236}">
                <a16:creationId xmlns:a16="http://schemas.microsoft.com/office/drawing/2014/main" id="{2FFF6ABC-8C1D-4DE8-9D1F-FEA6AF26AE9C}"/>
              </a:ext>
            </a:extLst>
          </p:cNvPr>
          <p:cNvSpPr>
            <a:spLocks xmlns:a="http://schemas.openxmlformats.org/drawingml/2006/main" noGrp="1"/>
          </p:cNvSpPr>
          <p:nvPr/>
        </p:nvSpPr>
        <p:spPr>
          <a:xfrm xmlns:a="http://schemas.openxmlformats.org/drawingml/2006/main">
            <a:off x="6400800" y="1847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3434AD9D-8281-4F75-93A6-E7AF832C2C1E}"/>
              </a:ext>
            </a:extLst>
          </p:cNvPr>
          <p:cNvSpPr>
            <a:spLocks xmlns:a="http://schemas.openxmlformats.org/drawingml/2006/main" noGrp="1"/>
          </p:cNvSpPr>
          <p:nvPr/>
        </p:nvSpPr>
        <p:spPr>
          <a:xfrm xmlns:a="http://schemas.openxmlformats.org/drawingml/2006/main">
            <a:off x="7181850" y="18478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Ask: “Where is my order?”</a:t>
            </a:r>
          </a:p>
        </p:txBody>
      </p:sp>
      <p:sp>
        <p:nvSpPr>
          <p:cNvPr id="8" name="">
            <a:extLst xmlns:a="http://schemas.openxmlformats.org/drawingml/2006/main">
              <a:ext uri="{FF2B5EF4-FFF2-40B4-BE49-F238E27FC236}">
                <a16:creationId xmlns:a16="http://schemas.microsoft.com/office/drawing/2014/main" id="{48B772E9-DB1E-4A2E-99EB-621627E6E127}"/>
              </a:ext>
            </a:extLst>
          </p:cNvPr>
          <p:cNvSpPr>
            <a:spLocks xmlns:a="http://schemas.openxmlformats.org/drawingml/2006/main" noGrp="1"/>
          </p:cNvSpPr>
          <p:nvPr/>
        </p:nvSpPr>
        <p:spPr>
          <a:xfrm xmlns:a="http://schemas.openxmlformats.org/drawingml/2006/main">
            <a:off x="6400800" y="28003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3D947A06-CD46-4ED1-8E23-2E60214530B6}"/>
              </a:ext>
            </a:extLst>
          </p:cNvPr>
          <p:cNvSpPr>
            <a:spLocks xmlns:a="http://schemas.openxmlformats.org/drawingml/2006/main" noGrp="1"/>
          </p:cNvSpPr>
          <p:nvPr/>
        </p:nvSpPr>
        <p:spPr>
          <a:xfrm xmlns:a="http://schemas.openxmlformats.org/drawingml/2006/main">
            <a:off x="7181850" y="28003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Request human assistance</a:t>
            </a:r>
          </a:p>
        </p:txBody>
      </p:sp>
      <p:sp>
        <p:nvSpPr>
          <p:cNvPr id="10" name="">
            <a:extLst xmlns:a="http://schemas.openxmlformats.org/drawingml/2006/main">
              <a:ext uri="{FF2B5EF4-FFF2-40B4-BE49-F238E27FC236}">
                <a16:creationId xmlns:a16="http://schemas.microsoft.com/office/drawing/2014/main" id="{E0A49D58-8D44-435D-8130-7DC14B9B8F2C}"/>
              </a:ext>
            </a:extLst>
          </p:cNvPr>
          <p:cNvSpPr>
            <a:spLocks xmlns:a="http://schemas.openxmlformats.org/drawingml/2006/main" noGrp="1"/>
          </p:cNvSpPr>
          <p:nvPr/>
        </p:nvSpPr>
        <p:spPr>
          <a:xfrm xmlns:a="http://schemas.openxmlformats.org/drawingml/2006/main">
            <a:off x="6400800" y="3752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1CD4F985-3B50-4613-83BE-AB3B85E1390D}"/>
              </a:ext>
            </a:extLst>
          </p:cNvPr>
          <p:cNvSpPr>
            <a:spLocks xmlns:a="http://schemas.openxmlformats.org/drawingml/2006/main" noGrp="1"/>
          </p:cNvSpPr>
          <p:nvPr/>
        </p:nvSpPr>
        <p:spPr>
          <a:xfrm xmlns:a="http://schemas.openxmlformats.org/drawingml/2006/main">
            <a:off x="7181850" y="37528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Reply from the support console</a:t>
            </a:r>
          </a:p>
        </p:txBody>
      </p:sp>
      <p:sp>
        <p:nvSpPr>
          <p:cNvPr id="12" name="">
            <a:extLst xmlns:a="http://schemas.openxmlformats.org/drawingml/2006/main">
              <a:ext uri="{FF2B5EF4-FFF2-40B4-BE49-F238E27FC236}">
                <a16:creationId xmlns:a16="http://schemas.microsoft.com/office/drawing/2014/main" id="{B671E777-5DEE-43FC-96B7-D24E6F337D42}"/>
              </a:ext>
            </a:extLst>
          </p:cNvPr>
          <p:cNvSpPr>
            <a:spLocks xmlns:a="http://schemas.openxmlformats.org/drawingml/2006/main" noGrp="1"/>
          </p:cNvSpPr>
          <p:nvPr/>
        </p:nvSpPr>
        <p:spPr>
          <a:xfrm xmlns:a="http://schemas.openxmlformats.org/drawingml/2006/main">
            <a:off x="6400800" y="47053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2EBBEAFA-862A-4DA9-9EA9-B443FE7C252B}"/>
              </a:ext>
            </a:extLst>
          </p:cNvPr>
          <p:cNvSpPr>
            <a:spLocks xmlns:a="http://schemas.openxmlformats.org/drawingml/2006/main" noGrp="1"/>
          </p:cNvSpPr>
          <p:nvPr/>
        </p:nvSpPr>
        <p:spPr>
          <a:xfrm xmlns:a="http://schemas.openxmlformats.org/drawingml/2006/main">
            <a:off x="7181850" y="47053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Resolve and show the closure notice</a:t>
            </a:r>
          </a:p>
        </p:txBody>
      </p:sp>
    </p:spTree>
    <p:extLst>
      <p:ext uri="{BB962C8B-B14F-4D97-AF65-F5344CB8AC3E}">
        <p14:creationId xmlns:p14="http://schemas.microsoft.com/office/powerpoint/2010/main" val="1340472529"/>
      </p:ext>
    </p:extLst>
  </p:cSld>
</p:sld>
</file>

<file path=ppt/slides/slide10.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7E51E5-9B42-4BD5-B145-3D23B4B3F0A9}"/>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Verification and improvements</a:t>
            </a:r>
          </a:p>
        </p:txBody>
      </p:sp>
      <p:sp>
        <p:nvSpPr>
          <p:cNvPr id="2" name="">
            <a:extLst xmlns:a="http://schemas.openxmlformats.org/drawingml/2006/main">
              <a:ext uri="{FF2B5EF4-FFF2-40B4-BE49-F238E27FC236}">
                <a16:creationId xmlns:a16="http://schemas.microsoft.com/office/drawing/2014/main" id="{1CF67C39-4157-47C6-BEF0-017BC15673C4}"/>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5AE27453-1016-41BE-9254-A667AA4CDB12}"/>
              </a:ext>
            </a:extLst>
          </p:cNvPr>
          <p:cNvSpPr>
            <a:spLocks xmlns:a="http://schemas.openxmlformats.org/drawingml/2006/main" noGrp="1"/>
          </p:cNvSpPr>
          <p:nvPr/>
        </p:nvSpPr>
        <p:spPr>
          <a:xfrm xmlns:a="http://schemas.openxmlformats.org/drawingml/2006/main">
            <a:off x="685800" y="1857375"/>
            <a:ext cx="2476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0051D5"/>
                </a:solidFill>
                <a:latin typeface="Helvetica Neue"/>
                <a:ea typeface="Helvetica Neue"/>
                <a:cs typeface="Helvetica Neue"/>
              </a:defRPr>
            </a:pPr>
            <a:r>
              <a:rPr sz="9150" b="1">
                <a:solidFill>
                  <a:srgbClr val="0051D5"/>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9AF85DE0-E4E1-4AF9-82ED-E7B390BD550C}"/>
              </a:ext>
            </a:extLst>
          </p:cNvPr>
          <p:cNvSpPr>
            <a:spLocks xmlns:a="http://schemas.openxmlformats.org/drawingml/2006/main" noGrp="1"/>
          </p:cNvSpPr>
          <p:nvPr/>
        </p:nvSpPr>
        <p:spPr>
          <a:xfrm xmlns:a="http://schemas.openxmlformats.org/drawingml/2006/main">
            <a:off x="685800" y="3619500"/>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63F"/>
                </a:solidFill>
                <a:latin typeface="Helvetica Neue"/>
                <a:ea typeface="Helvetica Neue"/>
                <a:cs typeface="Helvetica Neue"/>
              </a:defRPr>
            </a:pPr>
            <a:r>
              <a:rPr sz="2550" b="1">
                <a:solidFill>
                  <a:srgbClr val="14263F"/>
                </a:solidFill>
                <a:latin typeface="Helvetica Neue"/>
                <a:ea typeface="Helvetica Neue"/>
                <a:cs typeface="Helvetica Neue"/>
              </a:rPr>
              <a:t>offline quality checks passed</a:t>
            </a:r>
          </a:p>
        </p:txBody>
      </p:sp>
      <p:sp>
        <p:nvSpPr>
          <p:cNvPr id="5" name="">
            <a:extLst xmlns:a="http://schemas.openxmlformats.org/drawingml/2006/main">
              <a:ext uri="{FF2B5EF4-FFF2-40B4-BE49-F238E27FC236}">
                <a16:creationId xmlns:a16="http://schemas.microsoft.com/office/drawing/2014/main" id="{8931EEB1-7F76-4391-B2DA-C5F6F0F4FE25}"/>
              </a:ext>
            </a:extLst>
          </p:cNvPr>
          <p:cNvSpPr>
            <a:spLocks xmlns:a="http://schemas.openxmlformats.org/drawingml/2006/main" noGrp="1"/>
          </p:cNvSpPr>
          <p:nvPr/>
        </p:nvSpPr>
        <p:spPr>
          <a:xfrm xmlns:a="http://schemas.openxmlformats.org/drawingml/2006/main">
            <a:off x="6496050" y="18669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51D5"/>
                </a:solidFill>
                <a:latin typeface="Helvetica Neue"/>
                <a:ea typeface="Helvetica Neue"/>
                <a:cs typeface="Helvetica Neue"/>
              </a:defRPr>
            </a:pPr>
            <a:r>
              <a:rPr sz="2475" b="1">
                <a:solidFill>
                  <a:srgbClr val="0051D5"/>
                </a:solidFill>
                <a:latin typeface="Helvetica Neue"/>
                <a:ea typeface="Helvetica Neue"/>
                <a:cs typeface="Helvetica Neue"/>
              </a:rPr>
              <a:t>Workflow checks</a:t>
            </a:r>
          </a:p>
        </p:txBody>
      </p:sp>
      <p:sp>
        <p:nvSpPr>
          <p:cNvPr id="6" name="">
            <a:extLst xmlns:a="http://schemas.openxmlformats.org/drawingml/2006/main">
              <a:ext uri="{FF2B5EF4-FFF2-40B4-BE49-F238E27FC236}">
                <a16:creationId xmlns:a16="http://schemas.microsoft.com/office/drawing/2014/main" id="{8A2197C0-3BD0-4E63-AF19-1A2F7FBA4058}"/>
              </a:ext>
            </a:extLst>
          </p:cNvPr>
          <p:cNvSpPr>
            <a:spLocks xmlns:a="http://schemas.openxmlformats.org/drawingml/2006/main" noGrp="1"/>
          </p:cNvSpPr>
          <p:nvPr/>
        </p:nvSpPr>
        <p:spPr>
          <a:xfrm xmlns:a="http://schemas.openxmlformats.org/drawingml/2006/main">
            <a:off x="6496050" y="278130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Reply saves to the conversation</a:t>
            </a:r>
          </a:p>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Selection survives status changes</a:t>
            </a:r>
          </a:p>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Refresh restores the selected case</a:t>
            </a:r>
          </a:p>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Latest active ticket opens by default</a:t>
            </a:r>
          </a:p>
        </p:txBody>
      </p:sp>
      <p:sp>
        <p:nvSpPr>
          <p:cNvPr id="7" name="">
            <a:extLst xmlns:a="http://schemas.openxmlformats.org/drawingml/2006/main">
              <a:ext uri="{FF2B5EF4-FFF2-40B4-BE49-F238E27FC236}">
                <a16:creationId xmlns:a16="http://schemas.microsoft.com/office/drawing/2014/main" id="{CA9FB80F-8FF4-453F-ACB0-317DFDCE527B}"/>
              </a:ext>
            </a:extLst>
          </p:cNvPr>
          <p:cNvSpPr>
            <a:spLocks xmlns:a="http://schemas.openxmlformats.org/drawingml/2006/main" noGrp="1"/>
          </p:cNvSpPr>
          <p:nvPr/>
        </p:nvSpPr>
        <p:spPr>
          <a:xfrm xmlns:a="http://schemas.openxmlformats.org/drawingml/2006/main">
            <a:off x="685800" y="56483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Validation covers demo behavior. Model accuracy and scale need separate evaluation.</a:t>
            </a:r>
          </a:p>
        </p:txBody>
      </p:sp>
    </p:spTree>
    <p:extLst>
      <p:ext uri="{BB962C8B-B14F-4D97-AF65-F5344CB8AC3E}">
        <p14:creationId xmlns:p14="http://schemas.microsoft.com/office/powerpoint/2010/main" val="656052000"/>
      </p:ext>
    </p:extLst>
  </p:cSld>
</p:sld>
</file>

<file path=ppt/slides/slide11.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5B6D42-5062-4474-A0D2-D5B3BBF819AD}"/>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Next development priorities</a:t>
            </a:r>
          </a:p>
        </p:txBody>
      </p:sp>
      <p:sp>
        <p:nvSpPr>
          <p:cNvPr id="2" name="">
            <a:extLst xmlns:a="http://schemas.openxmlformats.org/drawingml/2006/main">
              <a:ext uri="{FF2B5EF4-FFF2-40B4-BE49-F238E27FC236}">
                <a16:creationId xmlns:a16="http://schemas.microsoft.com/office/drawing/2014/main" id="{9732F652-F636-4759-86A4-CBEB12768B12}"/>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EF34894A-3D8A-49A7-A7D6-2B7E67D9DEEE}"/>
              </a:ext>
            </a:extLst>
          </p:cNvPr>
          <p:cNvSpPr>
            <a:spLocks xmlns:a="http://schemas.openxmlformats.org/drawingml/2006/main" noGrp="1"/>
          </p:cNvSpPr>
          <p:nvPr/>
        </p:nvSpPr>
        <p:spPr>
          <a:xfrm xmlns:a="http://schemas.openxmlformats.org/drawingml/2006/main">
            <a:off x="68580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Identity and access</a:t>
            </a:r>
          </a:p>
        </p:txBody>
      </p:sp>
      <p:sp>
        <p:nvSpPr>
          <p:cNvPr id="4" name="">
            <a:extLst xmlns:a="http://schemas.openxmlformats.org/drawingml/2006/main">
              <a:ext uri="{FF2B5EF4-FFF2-40B4-BE49-F238E27FC236}">
                <a16:creationId xmlns:a16="http://schemas.microsoft.com/office/drawing/2014/main" id="{9B45C6E7-F3C0-45F3-95B1-BD445008F2EA}"/>
              </a:ext>
            </a:extLst>
          </p:cNvPr>
          <p:cNvSpPr>
            <a:spLocks xmlns:a="http://schemas.openxmlformats.org/drawingml/2006/main" noGrp="1"/>
          </p:cNvSpPr>
          <p:nvPr/>
        </p:nvSpPr>
        <p:spPr>
          <a:xfrm xmlns:a="http://schemas.openxmlformats.org/drawingml/2006/main">
            <a:off x="68580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Customer sign-in and authenticated support-agent roles.</a:t>
            </a:r>
          </a:p>
        </p:txBody>
      </p:sp>
      <p:sp>
        <p:nvSpPr>
          <p:cNvPr id="5" name="">
            <a:extLst xmlns:a="http://schemas.openxmlformats.org/drawingml/2006/main">
              <a:ext uri="{FF2B5EF4-FFF2-40B4-BE49-F238E27FC236}">
                <a16:creationId xmlns:a16="http://schemas.microsoft.com/office/drawing/2014/main" id="{76912930-BF6B-4DF7-ACEF-0E325A4D1137}"/>
              </a:ext>
            </a:extLst>
          </p:cNvPr>
          <p:cNvSpPr>
            <a:spLocks xmlns:a="http://schemas.openxmlformats.org/drawingml/2006/main" noGrp="1"/>
          </p:cNvSpPr>
          <p:nvPr/>
        </p:nvSpPr>
        <p:spPr>
          <a:xfrm xmlns:a="http://schemas.openxmlformats.org/drawingml/2006/main">
            <a:off x="649605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Team operations</a:t>
            </a:r>
          </a:p>
        </p:txBody>
      </p:sp>
      <p:sp>
        <p:nvSpPr>
          <p:cNvPr id="6" name="">
            <a:extLst xmlns:a="http://schemas.openxmlformats.org/drawingml/2006/main">
              <a:ext uri="{FF2B5EF4-FFF2-40B4-BE49-F238E27FC236}">
                <a16:creationId xmlns:a16="http://schemas.microsoft.com/office/drawing/2014/main" id="{A9ED9EA8-6D57-4741-A783-0623B4AA7A9B}"/>
              </a:ext>
            </a:extLst>
          </p:cNvPr>
          <p:cNvSpPr>
            <a:spLocks xmlns:a="http://schemas.openxmlformats.org/drawingml/2006/main" noGrp="1"/>
          </p:cNvSpPr>
          <p:nvPr/>
        </p:nvSpPr>
        <p:spPr>
          <a:xfrm xmlns:a="http://schemas.openxmlformats.org/drawingml/2006/main">
            <a:off x="649605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Concurrent-agent assignment and a shared production database.</a:t>
            </a:r>
          </a:p>
        </p:txBody>
      </p:sp>
      <p:sp>
        <p:nvSpPr>
          <p:cNvPr id="7" name="">
            <a:extLst xmlns:a="http://schemas.openxmlformats.org/drawingml/2006/main">
              <a:ext uri="{FF2B5EF4-FFF2-40B4-BE49-F238E27FC236}">
                <a16:creationId xmlns:a16="http://schemas.microsoft.com/office/drawing/2014/main" id="{1E97F462-1A18-4346-928E-E72DD2C5071F}"/>
              </a:ext>
            </a:extLst>
          </p:cNvPr>
          <p:cNvSpPr>
            <a:spLocks xmlns:a="http://schemas.openxmlformats.org/drawingml/2006/main" noGrp="1"/>
          </p:cNvSpPr>
          <p:nvPr/>
        </p:nvSpPr>
        <p:spPr>
          <a:xfrm xmlns:a="http://schemas.openxmlformats.org/drawingml/2006/main">
            <a:off x="68580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AI evaluation</a:t>
            </a:r>
          </a:p>
        </p:txBody>
      </p:sp>
      <p:sp>
        <p:nvSpPr>
          <p:cNvPr id="8" name="">
            <a:extLst xmlns:a="http://schemas.openxmlformats.org/drawingml/2006/main">
              <a:ext uri="{FF2B5EF4-FFF2-40B4-BE49-F238E27FC236}">
                <a16:creationId xmlns:a16="http://schemas.microsoft.com/office/drawing/2014/main" id="{A3D13937-6A1F-45D4-97E7-D33CF9B69634}"/>
              </a:ext>
            </a:extLst>
          </p:cNvPr>
          <p:cNvSpPr>
            <a:spLocks xmlns:a="http://schemas.openxmlformats.org/drawingml/2006/main" noGrp="1"/>
          </p:cNvSpPr>
          <p:nvPr/>
        </p:nvSpPr>
        <p:spPr>
          <a:xfrm xmlns:a="http://schemas.openxmlformats.org/drawingml/2006/main">
            <a:off x="68580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Measure factual accuracy and strengthen multi-turn context.</a:t>
            </a:r>
          </a:p>
        </p:txBody>
      </p:sp>
      <p:sp>
        <p:nvSpPr>
          <p:cNvPr id="9" name="">
            <a:extLst xmlns:a="http://schemas.openxmlformats.org/drawingml/2006/main">
              <a:ext uri="{FF2B5EF4-FFF2-40B4-BE49-F238E27FC236}">
                <a16:creationId xmlns:a16="http://schemas.microsoft.com/office/drawing/2014/main" id="{0FAD63F7-AB40-404D-BCB9-430B53657EAB}"/>
              </a:ext>
            </a:extLst>
          </p:cNvPr>
          <p:cNvSpPr>
            <a:spLocks xmlns:a="http://schemas.openxmlformats.org/drawingml/2006/main" noGrp="1"/>
          </p:cNvSpPr>
          <p:nvPr/>
        </p:nvSpPr>
        <p:spPr>
          <a:xfrm xmlns:a="http://schemas.openxmlformats.org/drawingml/2006/main">
            <a:off x="649605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Deployment</a:t>
            </a:r>
          </a:p>
        </p:txBody>
      </p:sp>
      <p:sp>
        <p:nvSpPr>
          <p:cNvPr id="10" name="">
            <a:extLst xmlns:a="http://schemas.openxmlformats.org/drawingml/2006/main">
              <a:ext uri="{FF2B5EF4-FFF2-40B4-BE49-F238E27FC236}">
                <a16:creationId xmlns:a16="http://schemas.microsoft.com/office/drawing/2014/main" id="{039ACB92-E855-4C07-9BAA-949F9ADA0C08}"/>
              </a:ext>
            </a:extLst>
          </p:cNvPr>
          <p:cNvSpPr>
            <a:spLocks xmlns:a="http://schemas.openxmlformats.org/drawingml/2006/main" noGrp="1"/>
          </p:cNvSpPr>
          <p:nvPr/>
        </p:nvSpPr>
        <p:spPr>
          <a:xfrm xmlns:a="http://schemas.openxmlformats.org/drawingml/2006/main">
            <a:off x="649605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Hosted access, monitoring, backups, and usage controls.</a:t>
            </a:r>
          </a:p>
        </p:txBody>
      </p:sp>
    </p:spTree>
    <p:extLst>
      <p:ext uri="{BB962C8B-B14F-4D97-AF65-F5344CB8AC3E}">
        <p14:creationId xmlns:p14="http://schemas.microsoft.com/office/powerpoint/2010/main" val="441665765"/>
      </p:ext>
    </p:extLst>
  </p:cSld>
</p:sld>
</file>

<file path=ppt/slides/slide12.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A09869-E47D-4910-97AB-2BACFDFE7AF1}"/>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Project takeaway</a:t>
            </a:r>
          </a:p>
        </p:txBody>
      </p:sp>
      <p:sp>
        <p:nvSpPr>
          <p:cNvPr id="2" name="">
            <a:extLst xmlns:a="http://schemas.openxmlformats.org/drawingml/2006/main">
              <a:ext uri="{FF2B5EF4-FFF2-40B4-BE49-F238E27FC236}">
                <a16:creationId xmlns:a16="http://schemas.microsoft.com/office/drawing/2014/main" id="{05D05F48-FF01-4429-8AEC-E4EA8DD1A090}"/>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252A5DAA-24C2-4AD8-87F1-80EC377EB424}"/>
              </a:ext>
            </a:extLst>
          </p:cNvPr>
          <p:cNvSpPr>
            <a:spLocks xmlns:a="http://schemas.openxmlformats.org/drawingml/2006/main" noGrp="1"/>
          </p:cNvSpPr>
          <p:nvPr/>
        </p:nvSpPr>
        <p:spPr>
          <a:xfrm xmlns:a="http://schemas.openxmlformats.org/drawingml/2006/main">
            <a:off x="685800" y="2019300"/>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A complete support conversation</a:t>
            </a:r>
          </a:p>
        </p:txBody>
      </p:sp>
      <p:sp>
        <p:nvSpPr>
          <p:cNvPr id="4" name="">
            <a:extLst xmlns:a="http://schemas.openxmlformats.org/drawingml/2006/main">
              <a:ext uri="{FF2B5EF4-FFF2-40B4-BE49-F238E27FC236}">
                <a16:creationId xmlns:a16="http://schemas.microsoft.com/office/drawing/2014/main" id="{C006F46B-419C-4350-8192-96E991C8F99D}"/>
              </a:ext>
            </a:extLst>
          </p:cNvPr>
          <p:cNvSpPr>
            <a:spLocks xmlns:a="http://schemas.openxmlformats.org/drawingml/2006/main" noGrp="1"/>
          </p:cNvSpPr>
          <p:nvPr/>
        </p:nvSpPr>
        <p:spPr>
          <a:xfrm xmlns:a="http://schemas.openxmlformats.org/drawingml/2006/main">
            <a:off x="685800" y="3648075"/>
            <a:ext cx="10429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AFBED3"/>
                </a:solidFill>
                <a:latin typeface="Helvetica Neue"/>
                <a:ea typeface="Helvetica Neue"/>
                <a:cs typeface="Helvetica Neue"/>
              </a:defRPr>
            </a:pPr>
            <a:r>
              <a:rPr sz="2625" b="0">
                <a:solidFill>
                  <a:srgbClr val="AFBED3"/>
                </a:solidFill>
                <a:latin typeface="Helvetica Neue"/>
                <a:ea typeface="Helvetica Neue"/>
                <a:cs typeface="Helvetica Neue"/>
              </a:rPr>
              <a:t>AI handles routine questions.</a:t>
            </a:r>
          </a:p>
          <a:p xmlns:a="http://schemas.openxmlformats.org/drawingml/2006/main">
            <a:pPr>
              <a:defRPr sz="2625" b="0">
                <a:solidFill>
                  <a:srgbClr val="AFBED3"/>
                </a:solidFill>
                <a:latin typeface="Helvetica Neue"/>
                <a:ea typeface="Helvetica Neue"/>
                <a:cs typeface="Helvetica Neue"/>
              </a:defRPr>
            </a:pPr>
            <a:r>
              <a:rPr sz="2625" b="0">
                <a:solidFill>
                  <a:srgbClr val="AFBED3"/>
                </a:solidFill>
                <a:latin typeface="Helvetica Neue"/>
                <a:ea typeface="Helvetica Neue"/>
                <a:cs typeface="Helvetica Neue"/>
              </a:rPr>
              <a:t>A specialist takes over when the customer needs help.</a:t>
            </a:r>
          </a:p>
        </p:txBody>
      </p:sp>
      <p:sp>
        <p:nvSpPr>
          <p:cNvPr id="5" name="">
            <a:extLst xmlns:a="http://schemas.openxmlformats.org/drawingml/2006/main">
              <a:ext uri="{FF2B5EF4-FFF2-40B4-BE49-F238E27FC236}">
                <a16:creationId xmlns:a16="http://schemas.microsoft.com/office/drawing/2014/main" id="{A2B3A5B2-F3EA-4671-BFC6-CAB1C33849EE}"/>
              </a:ext>
            </a:extLst>
          </p:cNvPr>
          <p:cNvSpPr>
            <a:spLocks xmlns:a="http://schemas.openxmlformats.org/drawingml/2006/main" noGrp="1"/>
          </p:cNvSpPr>
          <p:nvPr/>
        </p:nvSpPr>
        <p:spPr>
          <a:xfrm xmlns:a="http://schemas.openxmlformats.org/drawingml/2006/main">
            <a:off x="685800" y="5600700"/>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3C9FF"/>
                </a:solidFill>
                <a:latin typeface="Helvetica Neue"/>
                <a:ea typeface="Helvetica Neue"/>
                <a:cs typeface="Helvetica Neue"/>
              </a:defRPr>
            </a:pPr>
            <a:r>
              <a:rPr sz="2250" b="1">
                <a:solidFill>
                  <a:srgbClr val="83C9FF"/>
                </a:solidFill>
                <a:latin typeface="Helvetica Neue"/>
                <a:ea typeface="Helvetica Neue"/>
                <a:cs typeface="Helvetica Neue"/>
              </a:rPr>
              <a:t>Questions &amp; live demo</a:t>
            </a:r>
          </a:p>
        </p:txBody>
      </p:sp>
    </p:spTree>
    <p:extLst>
      <p:ext uri="{BB962C8B-B14F-4D97-AF65-F5344CB8AC3E}">
        <p14:creationId xmlns:p14="http://schemas.microsoft.com/office/powerpoint/2010/main" val="575296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2026-09-22T18:17:21.1180000Z</dcterms:created>
  <dcterms:modified xsi:type="dcterms:W3CDTF">2026-09-22T18:17:21.1180000Z</dcterms:modified>
</coreProperties>
</file>